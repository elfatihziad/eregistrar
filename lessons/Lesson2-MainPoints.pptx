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70"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24" y="-3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029E2B-3B4A-4139-8792-EE208F8A72FB}" type="datetimeFigureOut">
              <a:rPr lang="en-US" smtClean="0"/>
              <a:pPr/>
              <a:t>2020-02-23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2B7CAB-08AC-46A1-BEA4-01FF68A8BC6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609600"/>
            <a:ext cx="8686800" cy="5943600"/>
          </a:xfrm>
        </p:spPr>
        <p:txBody>
          <a:bodyPr/>
          <a:lstStyle/>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19075" y="447675"/>
            <a:ext cx="8705850" cy="59626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610600" cy="6400800"/>
          </a:xfrm>
        </p:spPr>
        <p:txBody>
          <a:bodyPr/>
          <a:lstStyle/>
          <a:p>
            <a:endParaRPr lang="en-US" dirty="0"/>
          </a:p>
        </p:txBody>
      </p:sp>
      <p:pic>
        <p:nvPicPr>
          <p:cNvPr id="4" name="Picture 3"/>
          <p:cNvPicPr/>
          <p:nvPr/>
        </p:nvPicPr>
        <p:blipFill>
          <a:blip r:embed="rId2" cstate="print"/>
          <a:stretch>
            <a:fillRect/>
          </a:stretch>
        </p:blipFill>
        <p:spPr>
          <a:xfrm>
            <a:off x="304800" y="228600"/>
            <a:ext cx="8610600" cy="64008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Points</a:t>
            </a:r>
            <a:endParaRPr lang="en-US" dirty="0"/>
          </a:p>
        </p:txBody>
      </p:sp>
      <p:sp>
        <p:nvSpPr>
          <p:cNvPr id="3" name="Content Placeholder 2"/>
          <p:cNvSpPr>
            <a:spLocks noGrp="1"/>
          </p:cNvSpPr>
          <p:nvPr>
            <p:ph idx="1"/>
          </p:nvPr>
        </p:nvSpPr>
        <p:spPr>
          <a:xfrm>
            <a:off x="457200" y="1600200"/>
            <a:ext cx="8229600" cy="4876800"/>
          </a:xfrm>
        </p:spPr>
        <p:txBody>
          <a:bodyPr>
            <a:normAutofit fontScale="62500" lnSpcReduction="20000"/>
          </a:bodyPr>
          <a:lstStyle/>
          <a:p>
            <a:pPr>
              <a:buNone/>
            </a:pPr>
            <a:r>
              <a:rPr lang="en-US" dirty="0" smtClean="0"/>
              <a:t>	</a:t>
            </a:r>
            <a:r>
              <a:rPr lang="en-US" sz="3800" dirty="0" smtClean="0"/>
              <a:t>We will use a course project as the focus of the activities in the course. The organizing power inherent in knowledge manifests itself in the field of action.</a:t>
            </a:r>
          </a:p>
          <a:p>
            <a:pPr>
              <a:buNone/>
            </a:pPr>
            <a:endParaRPr lang="en-US" dirty="0" smtClean="0"/>
          </a:p>
          <a:p>
            <a:r>
              <a:rPr lang="en-US" sz="3500" dirty="0" smtClean="0"/>
              <a:t>Software Engineering studies the principles for creating reliable and easily </a:t>
            </a:r>
            <a:r>
              <a:rPr lang="en-US" sz="3500" dirty="0" err="1" smtClean="0"/>
              <a:t>maintenable</a:t>
            </a:r>
            <a:r>
              <a:rPr lang="en-US" sz="3500" dirty="0" smtClean="0"/>
              <a:t> software, delivered on time and within budget. A month-long project will be used in the course to provide hands-on experience of some of the most important of these principles. Likewise, SCI studies the fundamental principles that underlie Life itself </a:t>
            </a:r>
            <a:r>
              <a:rPr lang="en-US" sz="3500" dirty="0" err="1" smtClean="0"/>
              <a:t>amd</a:t>
            </a:r>
            <a:r>
              <a:rPr lang="en-US" sz="3500" dirty="0" smtClean="0"/>
              <a:t> brings out effective techniques for making individual and collective life as rich and fully developed as possible. Through the practical application of SCI, using technologies of the Unified Field such as the TM and TM </a:t>
            </a:r>
            <a:r>
              <a:rPr lang="en-US" sz="3500" dirty="0" err="1" smtClean="0"/>
              <a:t>Sidhi</a:t>
            </a:r>
            <a:r>
              <a:rPr lang="en-US" sz="3500" dirty="0" smtClean="0"/>
              <a:t> programs, we gain direct experience of the powerful effect of engaging Nature’s intelligence in our individual, family</a:t>
            </a:r>
            <a:r>
              <a:rPr lang="en-US" sz="3500" dirty="0" smtClean="0"/>
              <a:t>, community, national </a:t>
            </a:r>
            <a:r>
              <a:rPr lang="en-US" sz="3500" dirty="0" smtClean="0"/>
              <a:t>and global </a:t>
            </a:r>
            <a:r>
              <a:rPr lang="en-US" sz="3500" dirty="0" smtClean="0"/>
              <a:t>endeavors</a:t>
            </a:r>
            <a:r>
              <a:rPr lang="en-US" sz="3500" dirty="0" smtClean="0"/>
              <a:t>.</a:t>
            </a:r>
            <a:endParaRPr lang="en-US" sz="3500" dirty="0" smtClean="0"/>
          </a:p>
          <a:p>
            <a:pPr>
              <a:buNone/>
            </a:pPr>
            <a:r>
              <a:rPr lang="en-US" dirty="0" smtClean="0"/>
              <a:t>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CONNECTING THE PARTS OF KNOWLEDGE</a:t>
            </a:r>
            <a:br>
              <a:rPr lang="en-US" sz="3600" dirty="0" smtClean="0"/>
            </a:br>
            <a:r>
              <a:rPr lang="en-US" sz="3600" dirty="0" smtClean="0"/>
              <a:t>WITH THE WHOLENESS OF KNOWLEDGE</a:t>
            </a:r>
            <a:endParaRPr lang="en-US" sz="3600" dirty="0"/>
          </a:p>
        </p:txBody>
      </p:sp>
      <p:sp>
        <p:nvSpPr>
          <p:cNvPr id="3" name="Content Placeholder 2"/>
          <p:cNvSpPr>
            <a:spLocks noGrp="1"/>
          </p:cNvSpPr>
          <p:nvPr>
            <p:ph idx="1"/>
          </p:nvPr>
        </p:nvSpPr>
        <p:spPr>
          <a:xfrm>
            <a:off x="457200" y="1447800"/>
            <a:ext cx="8382000" cy="5334000"/>
          </a:xfrm>
        </p:spPr>
        <p:txBody>
          <a:bodyPr>
            <a:normAutofit fontScale="62500" lnSpcReduction="20000"/>
          </a:bodyPr>
          <a:lstStyle/>
          <a:p>
            <a:pPr algn="ctr">
              <a:buNone/>
            </a:pPr>
            <a:r>
              <a:rPr lang="en-US" dirty="0" smtClean="0"/>
              <a:t>Introduction to Software Engineering</a:t>
            </a:r>
          </a:p>
          <a:p>
            <a:pPr marL="514350" indent="-514350">
              <a:buAutoNum type="arabicPeriod"/>
            </a:pPr>
            <a:r>
              <a:rPr lang="en-US" sz="2800" dirty="0" smtClean="0"/>
              <a:t>Software Engineering is </a:t>
            </a:r>
            <a:r>
              <a:rPr lang="en-US" sz="2800" dirty="0" smtClean="0"/>
              <a:t>a discipline that offers best practices and optimized methodologies for software development. It organizes and presents the insights and discoveries of computer scientists, researchers and engineers, acquired over several decades.</a:t>
            </a:r>
            <a:endParaRPr lang="en-US" sz="2800" dirty="0" smtClean="0"/>
          </a:p>
          <a:p>
            <a:pPr marL="514350" indent="-514350">
              <a:buAutoNum type="arabicPeriod"/>
            </a:pPr>
            <a:r>
              <a:rPr lang="en-US" sz="2800" dirty="0" smtClean="0"/>
              <a:t>The deeper truth about the principles of good software engineering, elaborated in the Software Engineering discipline is that the principles are only valuable to the extent that they are applied. Practical application of these principles is a central ingredient in learning and benefitting from this discipline.</a:t>
            </a:r>
            <a:endParaRPr lang="en-US" sz="2800" dirty="0" smtClean="0"/>
          </a:p>
          <a:p>
            <a:pPr marL="514350" indent="-514350">
              <a:buNone/>
            </a:pPr>
            <a:r>
              <a:rPr lang="en-US" sz="2800" dirty="0" smtClean="0"/>
              <a:t>	_________________________________________________</a:t>
            </a:r>
          </a:p>
          <a:p>
            <a:pPr marL="514350" indent="-514350">
              <a:buNone/>
            </a:pPr>
            <a:endParaRPr lang="en-US" sz="2800" dirty="0" smtClean="0"/>
          </a:p>
          <a:p>
            <a:pPr marL="514350" indent="-514350">
              <a:buFont typeface="+mj-lt"/>
              <a:buAutoNum type="arabicPeriod" startAt="3"/>
            </a:pPr>
            <a:r>
              <a:rPr lang="en-US" sz="2800" b="1" dirty="0" smtClean="0"/>
              <a:t>Transcendental consciousness</a:t>
            </a:r>
            <a:r>
              <a:rPr lang="en-US" sz="2800" dirty="0" smtClean="0"/>
              <a:t> </a:t>
            </a:r>
            <a:r>
              <a:rPr lang="en-US" sz="2800" dirty="0" smtClean="0"/>
              <a:t>provides proof of the existence of a pure field of consciousness, beyond the domains of thought, feeling and sensory experience. Experience of this field draws into the individual life, the qualities and powerful dynamics of cosmic life.</a:t>
            </a:r>
            <a:endParaRPr lang="en-US" sz="2800" dirty="0" smtClean="0"/>
          </a:p>
          <a:p>
            <a:pPr marL="514350" indent="-514350">
              <a:buAutoNum type="arabicPeriod" startAt="3"/>
            </a:pPr>
            <a:r>
              <a:rPr lang="en-US" sz="2800" b="1" dirty="0" smtClean="0"/>
              <a:t>Impulses within the Transcendental field</a:t>
            </a:r>
            <a:r>
              <a:rPr lang="en-US" sz="2800" dirty="0" smtClean="0"/>
              <a:t>: </a:t>
            </a:r>
            <a:r>
              <a:rPr lang="en-US" sz="2800" dirty="0" smtClean="0"/>
              <a:t>the transcendental field of pure consciousness is awake within itself and rises in waves of self-interacting dynamics. </a:t>
            </a:r>
            <a:endParaRPr lang="en-US" sz="2800" dirty="0" smtClean="0"/>
          </a:p>
          <a:p>
            <a:pPr marL="514350" indent="-514350">
              <a:buAutoNum type="arabicPeriod" startAt="3"/>
            </a:pPr>
            <a:r>
              <a:rPr lang="en-US" sz="2800" b="1" dirty="0" smtClean="0"/>
              <a:t>Wholeness moving within itself</a:t>
            </a:r>
            <a:r>
              <a:rPr lang="en-US" sz="2800" dirty="0" smtClean="0"/>
              <a:t>: In Unity Consciousness, </a:t>
            </a:r>
            <a:r>
              <a:rPr lang="en-US" sz="2800" dirty="0" smtClean="0"/>
              <a:t>the field of pure consciousness is no longer “transcendental”, but it is the intimate reality of every aspect of experience. The organizing power of this field becomes, in this state, fully lively in the impulse of one’s own thought.</a:t>
            </a:r>
            <a:endParaRPr lang="en-US" sz="2800" dirty="0"/>
          </a:p>
        </p:txBody>
      </p:sp>
      <p:sp>
        <p:nvSpPr>
          <p:cNvPr id="4" name="Curved Left Arrow 3"/>
          <p:cNvSpPr/>
          <p:nvPr/>
        </p:nvSpPr>
        <p:spPr>
          <a:xfrm flipV="1">
            <a:off x="8153400" y="2209800"/>
            <a:ext cx="877078" cy="3657600"/>
          </a:xfrm>
          <a:prstGeom prst="curvedLeftArrow">
            <a:avLst/>
          </a:prstGeom>
          <a:solidFill>
            <a:schemeClr val="accent4">
              <a:alpha val="2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TotalTime>
  <Words>97</Words>
  <Application>Microsoft Office PowerPoint</Application>
  <PresentationFormat>On-screen Show (4:3)</PresentationFormat>
  <Paragraphs>14</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Slide 1</vt:lpstr>
      <vt:lpstr>Slide 2</vt:lpstr>
      <vt:lpstr>Main Points</vt:lpstr>
      <vt:lpstr>CONNECTING THE PARTS OF KNOWLEDGE WITH THE WHOLENESS OF KNOWLEDGE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obinna</dc:creator>
  <cp:lastModifiedBy>obinna</cp:lastModifiedBy>
  <cp:revision>43</cp:revision>
  <dcterms:created xsi:type="dcterms:W3CDTF">2020-02-21T17:51:56Z</dcterms:created>
  <dcterms:modified xsi:type="dcterms:W3CDTF">2020-02-24T04:51:36Z</dcterms:modified>
</cp:coreProperties>
</file>