
<file path=[Content_Types].xml><?xml version="1.0" encoding="utf-8"?>
<Types xmlns="http://schemas.openxmlformats.org/package/2006/content-types">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1" r:id="rId4"/>
    <p:sldId id="272" r:id="rId5"/>
    <p:sldId id="270"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5" d="100"/>
          <a:sy n="85" d="100"/>
        </p:scale>
        <p:origin x="-1378"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5029E2B-3B4A-4139-8792-EE208F8A72FB}" type="datetimeFigureOut">
              <a:rPr lang="en-US" smtClean="0"/>
              <a:pPr/>
              <a:t>2/25/2020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5029E2B-3B4A-4139-8792-EE208F8A72FB}" type="datetimeFigureOut">
              <a:rPr lang="en-US" smtClean="0"/>
              <a:pPr/>
              <a:t>2/25/2020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5029E2B-3B4A-4139-8792-EE208F8A72FB}" type="datetimeFigureOut">
              <a:rPr lang="en-US" smtClean="0"/>
              <a:pPr/>
              <a:t>2/25/2020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5029E2B-3B4A-4139-8792-EE208F8A72FB}" type="datetimeFigureOut">
              <a:rPr lang="en-US" smtClean="0"/>
              <a:pPr/>
              <a:t>2/25/2020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029E2B-3B4A-4139-8792-EE208F8A72FB}" type="datetimeFigureOut">
              <a:rPr lang="en-US" smtClean="0"/>
              <a:pPr/>
              <a:t>2/25/2020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029E2B-3B4A-4139-8792-EE208F8A72FB}" type="datetimeFigureOut">
              <a:rPr lang="en-US" smtClean="0"/>
              <a:pPr/>
              <a:t>2/25/2020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5029E2B-3B4A-4139-8792-EE208F8A72FB}" type="datetimeFigureOut">
              <a:rPr lang="en-US" smtClean="0"/>
              <a:pPr/>
              <a:t>2/25/2020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5029E2B-3B4A-4139-8792-EE208F8A72FB}" type="datetimeFigureOut">
              <a:rPr lang="en-US" smtClean="0"/>
              <a:pPr/>
              <a:t>2/25/2020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2B7CAB-08AC-46A1-BEA4-01FF68A8BC6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029E2B-3B4A-4139-8792-EE208F8A72FB}" type="datetimeFigureOut">
              <a:rPr lang="en-US" smtClean="0"/>
              <a:pPr/>
              <a:t>2/25/2020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2B7CAB-08AC-46A1-BEA4-01FF68A8BC6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609600"/>
            <a:ext cx="8686800" cy="5943600"/>
          </a:xfrm>
        </p:spPr>
        <p:txBody>
          <a:bodyPr/>
          <a:lstStyle/>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219075" y="447675"/>
            <a:ext cx="8705850" cy="59626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228600"/>
            <a:ext cx="8610600" cy="6400800"/>
          </a:xfrm>
        </p:spPr>
        <p:txBody>
          <a:bodyPr/>
          <a:lstStyle/>
          <a:p>
            <a:endParaRPr lang="en-US" dirty="0"/>
          </a:p>
        </p:txBody>
      </p:sp>
      <p:pic>
        <p:nvPicPr>
          <p:cNvPr id="4" name="Picture 3"/>
          <p:cNvPicPr/>
          <p:nvPr/>
        </p:nvPicPr>
        <p:blipFill>
          <a:blip r:embed="rId2" cstate="print"/>
          <a:stretch>
            <a:fillRect/>
          </a:stretch>
        </p:blipFill>
        <p:spPr>
          <a:xfrm>
            <a:off x="304800" y="228600"/>
            <a:ext cx="8610600" cy="64008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Points</a:t>
            </a:r>
            <a:endParaRPr lang="en-US" dirty="0"/>
          </a:p>
        </p:txBody>
      </p:sp>
      <p:sp>
        <p:nvSpPr>
          <p:cNvPr id="3" name="Content Placeholder 2"/>
          <p:cNvSpPr>
            <a:spLocks noGrp="1"/>
          </p:cNvSpPr>
          <p:nvPr>
            <p:ph idx="1"/>
          </p:nvPr>
        </p:nvSpPr>
        <p:spPr>
          <a:xfrm>
            <a:off x="457200" y="1371600"/>
            <a:ext cx="8229600" cy="5181600"/>
          </a:xfrm>
        </p:spPr>
        <p:txBody>
          <a:bodyPr>
            <a:normAutofit fontScale="47500" lnSpcReduction="20000"/>
          </a:bodyPr>
          <a:lstStyle/>
          <a:p>
            <a:pPr>
              <a:buNone/>
            </a:pPr>
            <a:r>
              <a:rPr lang="en-US" dirty="0" smtClean="0"/>
              <a:t>	</a:t>
            </a:r>
            <a:r>
              <a:rPr lang="en-US" sz="5500" dirty="0" smtClean="0"/>
              <a:t>Software development is an extremely complex process and procedures have evolved from industry experience to guide and coordinate all the activities and interactions. In a parallel fashion, actions arising from the level of pure consciousness will have the support of the mighty organizing power of Natural Law; such actions are destined to succeed. </a:t>
            </a:r>
            <a:endParaRPr lang="en-US" sz="5500" dirty="0" smtClean="0"/>
          </a:p>
          <a:p>
            <a:pPr>
              <a:buNone/>
            </a:pPr>
            <a:endParaRPr lang="en-US" dirty="0" smtClean="0"/>
          </a:p>
          <a:p>
            <a:r>
              <a:rPr lang="en-US" sz="4500" dirty="0" smtClean="0"/>
              <a:t>All software engineering processes are designed to promote clearer thinking throughout th</a:t>
            </a:r>
            <a:r>
              <a:rPr lang="en-US" sz="4500" dirty="0" smtClean="0"/>
              <a:t>e steps of the development lifecycle, with particular emphasis on the stages of the project</a:t>
            </a:r>
            <a:r>
              <a:rPr lang="en-US" sz="4500" dirty="0" smtClean="0"/>
              <a:t>. Techniques in RUP to enhance clarity of thinking include a systematic approach (via Use-cases) to getting the requirements right; a systematic approach to visualizing and elaborating the requirements via interaction and VOPC diagrams; and a ste</a:t>
            </a:r>
            <a:r>
              <a:rPr lang="en-US" sz="4500" dirty="0" smtClean="0"/>
              <a:t>p-by-step approach to building the architecture, by identifying key abstractions initially and later identifying subsystems.</a:t>
            </a:r>
            <a:endParaRPr lang="en-US" sz="4500" dirty="0" smtClean="0"/>
          </a:p>
          <a:p>
            <a:pPr>
              <a:buNone/>
            </a:pPr>
            <a:r>
              <a:rPr lang="en-US" dirty="0" smtClean="0"/>
              <a:t>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 </a:t>
            </a:r>
            <a:r>
              <a:rPr lang="en-US" dirty="0" smtClean="0"/>
              <a:t>Points cont’d</a:t>
            </a:r>
            <a:endParaRPr lang="en-US" dirty="0"/>
          </a:p>
        </p:txBody>
      </p:sp>
      <p:sp>
        <p:nvSpPr>
          <p:cNvPr id="3" name="Content Placeholder 2"/>
          <p:cNvSpPr>
            <a:spLocks noGrp="1"/>
          </p:cNvSpPr>
          <p:nvPr>
            <p:ph idx="1"/>
          </p:nvPr>
        </p:nvSpPr>
        <p:spPr>
          <a:xfrm>
            <a:off x="457200" y="1371600"/>
            <a:ext cx="8229600" cy="5181600"/>
          </a:xfrm>
        </p:spPr>
        <p:txBody>
          <a:bodyPr>
            <a:normAutofit fontScale="25000" lnSpcReduction="20000"/>
          </a:bodyPr>
          <a:lstStyle/>
          <a:p>
            <a:pPr>
              <a:buNone/>
            </a:pPr>
            <a:r>
              <a:rPr lang="en-US" dirty="0" smtClean="0"/>
              <a:t>	</a:t>
            </a:r>
            <a:r>
              <a:rPr lang="en-US" sz="11200" dirty="0" smtClean="0"/>
              <a:t>Alertness to these early details is further enhanced by taking an incremental and iterative approach, so that important details are not overlooked and mistakes can be corrected quickly. </a:t>
            </a:r>
          </a:p>
          <a:p>
            <a:pPr>
              <a:buNone/>
            </a:pPr>
            <a:r>
              <a:rPr lang="en-US" sz="11200" dirty="0" smtClean="0"/>
              <a:t>	</a:t>
            </a:r>
            <a:r>
              <a:rPr lang="en-US" sz="11200" dirty="0" smtClean="0"/>
              <a:t>A natural support for the aims of software engineering methodologies is a technique for enhancing clarity of consciousness itself. When consciousness is clear and open to the deeper laws that govern the flow of life, it is less likely that significant details in any endeavor will be overlooked. It is therefore natural to include TM as a significant component of any good software engineering methodology</a:t>
            </a:r>
            <a:r>
              <a:rPr lang="en-US" sz="5900" dirty="0" smtClean="0"/>
              <a:t>.</a:t>
            </a:r>
          </a:p>
          <a:p>
            <a:pPr>
              <a:buNone/>
            </a:pPr>
            <a:r>
              <a:rPr lang="en-US" sz="5500" dirty="0" smtClean="0"/>
              <a:t> </a:t>
            </a:r>
            <a:endParaRPr lang="en-US" sz="5500" dirty="0" smtClean="0"/>
          </a:p>
          <a:p>
            <a:pPr>
              <a:buNone/>
            </a:pPr>
            <a:endParaRPr lang="en-US" dirty="0" smtClean="0"/>
          </a:p>
          <a:p>
            <a:pPr>
              <a:buNone/>
            </a:pPr>
            <a:r>
              <a:rPr lang="en-US" dirty="0" smtClean="0"/>
              <a:t>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dirty="0" smtClean="0"/>
              <a:t>CONNECTING THE PARTS OF KNOWLEDGE</a:t>
            </a:r>
            <a:br>
              <a:rPr lang="en-US" sz="3600" dirty="0" smtClean="0"/>
            </a:br>
            <a:r>
              <a:rPr lang="en-US" sz="3600" dirty="0" smtClean="0"/>
              <a:t>WITH THE WHOLENESS OF KNOWLEDGE</a:t>
            </a:r>
            <a:endParaRPr lang="en-US" sz="3600" dirty="0"/>
          </a:p>
        </p:txBody>
      </p:sp>
      <p:sp>
        <p:nvSpPr>
          <p:cNvPr id="3" name="Content Placeholder 2"/>
          <p:cNvSpPr>
            <a:spLocks noGrp="1"/>
          </p:cNvSpPr>
          <p:nvPr>
            <p:ph idx="1"/>
          </p:nvPr>
        </p:nvSpPr>
        <p:spPr>
          <a:xfrm>
            <a:off x="457200" y="1447800"/>
            <a:ext cx="8382000" cy="5029200"/>
          </a:xfrm>
        </p:spPr>
        <p:txBody>
          <a:bodyPr>
            <a:normAutofit fontScale="62500" lnSpcReduction="20000"/>
          </a:bodyPr>
          <a:lstStyle/>
          <a:p>
            <a:pPr algn="ctr">
              <a:buNone/>
            </a:pPr>
            <a:r>
              <a:rPr lang="en-US" dirty="0" smtClean="0"/>
              <a:t>Introduction to Software Engineering</a:t>
            </a:r>
          </a:p>
          <a:p>
            <a:pPr marL="514350" indent="-514350">
              <a:buAutoNum type="arabicPeriod"/>
            </a:pPr>
            <a:r>
              <a:rPr lang="en-US" sz="2800" dirty="0" smtClean="0"/>
              <a:t>RUP provides a detailed sequence of steps for incorporating best practices and useful artifacts, resulting in well-built and easily maintainable software.</a:t>
            </a:r>
            <a:endParaRPr lang="en-US" sz="2800" dirty="0" smtClean="0"/>
          </a:p>
          <a:p>
            <a:pPr marL="514350" indent="-514350">
              <a:buAutoNum type="arabicPeriod"/>
            </a:pPr>
            <a:r>
              <a:rPr lang="en-US" sz="2800" dirty="0" smtClean="0"/>
              <a:t>RUP is based on clarifying the thought process behind the development of software. By paying attention to key details in the development process, RUP is able to provide the developer with just the right tools at each step in the course of the software project.</a:t>
            </a:r>
            <a:endParaRPr lang="en-US" sz="2800" dirty="0" smtClean="0"/>
          </a:p>
          <a:p>
            <a:pPr marL="514350" indent="-514350">
              <a:buNone/>
            </a:pPr>
            <a:r>
              <a:rPr lang="en-US" sz="2800" dirty="0" smtClean="0"/>
              <a:t>	_________________________________________________</a:t>
            </a:r>
          </a:p>
          <a:p>
            <a:pPr marL="514350" indent="-514350">
              <a:buNone/>
            </a:pPr>
            <a:endParaRPr lang="en-US" sz="2800" dirty="0" smtClean="0"/>
          </a:p>
          <a:p>
            <a:pPr marL="514350" indent="-514350">
              <a:buFont typeface="+mj-lt"/>
              <a:buAutoNum type="arabicPeriod" startAt="3"/>
            </a:pPr>
            <a:r>
              <a:rPr lang="en-US" sz="2800" b="1" dirty="0" smtClean="0"/>
              <a:t>Transcendental consciousness</a:t>
            </a:r>
            <a:r>
              <a:rPr lang="en-US" sz="2800" dirty="0" smtClean="0"/>
              <a:t> is the </a:t>
            </a:r>
            <a:r>
              <a:rPr lang="en-US" sz="2800" dirty="0" smtClean="0"/>
              <a:t>field on which thoughts, perceptions and feelings arise as waves. Clarity of thought has its ground in availability of the transcendental field.</a:t>
            </a:r>
            <a:endParaRPr lang="en-US" sz="2800" dirty="0" smtClean="0"/>
          </a:p>
          <a:p>
            <a:pPr marL="514350" indent="-514350">
              <a:buAutoNum type="arabicPeriod" startAt="3"/>
            </a:pPr>
            <a:r>
              <a:rPr lang="en-US" sz="2800" b="1" dirty="0" smtClean="0"/>
              <a:t>Impulses within the Transcendental field</a:t>
            </a:r>
            <a:r>
              <a:rPr lang="en-US" sz="2800" dirty="0" smtClean="0"/>
              <a:t>: </a:t>
            </a:r>
            <a:r>
              <a:rPr lang="en-US" sz="2800" dirty="0" smtClean="0"/>
              <a:t>When awareness is established in its unbounded nature, intentions and desires that arise have full support of Natural Law, since it is from this field that the Laws of Nature become to operate. </a:t>
            </a:r>
            <a:endParaRPr lang="en-US" sz="2800" dirty="0" smtClean="0"/>
          </a:p>
          <a:p>
            <a:pPr marL="514350" indent="-514350">
              <a:buAutoNum type="arabicPeriod" startAt="3"/>
            </a:pPr>
            <a:r>
              <a:rPr lang="en-US" sz="2800" b="1" dirty="0" smtClean="0"/>
              <a:t>Wholeness moving within itself</a:t>
            </a:r>
            <a:r>
              <a:rPr lang="en-US" sz="2800" dirty="0" smtClean="0"/>
              <a:t>: In Unity Consciousness, </a:t>
            </a:r>
            <a:r>
              <a:rPr lang="en-US" sz="2800" dirty="0" smtClean="0"/>
              <a:t>clarity of the thinking process is never lost because the transcendental value of every object is never lost to perception.</a:t>
            </a:r>
            <a:endParaRPr lang="en-US" sz="2800" dirty="0"/>
          </a:p>
        </p:txBody>
      </p:sp>
      <p:sp>
        <p:nvSpPr>
          <p:cNvPr id="4" name="Curved Left Arrow 3"/>
          <p:cNvSpPr/>
          <p:nvPr/>
        </p:nvSpPr>
        <p:spPr>
          <a:xfrm flipV="1">
            <a:off x="8153400" y="2971800"/>
            <a:ext cx="877078" cy="2514600"/>
          </a:xfrm>
          <a:prstGeom prst="curvedLeftArrow">
            <a:avLst/>
          </a:prstGeom>
          <a:solidFill>
            <a:schemeClr val="accent4">
              <a:alpha val="20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290</TotalTime>
  <Words>85</Words>
  <Application>Microsoft Office PowerPoint</Application>
  <PresentationFormat>On-screen Show (4:3)</PresentationFormat>
  <Paragraphs>20</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Slide 1</vt:lpstr>
      <vt:lpstr>Slide 2</vt:lpstr>
      <vt:lpstr>Main Points</vt:lpstr>
      <vt:lpstr>Main Points cont’d</vt:lpstr>
      <vt:lpstr>CONNECTING THE PARTS OF KNOWLEDGE WITH THE WHOLENESS OF KNOWLEDGE</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obinna</dc:creator>
  <cp:lastModifiedBy>obi</cp:lastModifiedBy>
  <cp:revision>56</cp:revision>
  <dcterms:created xsi:type="dcterms:W3CDTF">2020-02-21T17:51:56Z</dcterms:created>
  <dcterms:modified xsi:type="dcterms:W3CDTF">2020-02-25T15:38:52Z</dcterms:modified>
</cp:coreProperties>
</file>