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0"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24" y="-3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2020-02-23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29E2B-3B4A-4139-8792-EE208F8A72FB}" type="datetimeFigureOut">
              <a:rPr lang="en-US" smtClean="0"/>
              <a:pPr/>
              <a:t>2020-02-23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B7CAB-08AC-46A1-BEA4-01FF68A8BC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609600"/>
            <a:ext cx="8686800" cy="5943600"/>
          </a:xfrm>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075" y="447675"/>
            <a:ext cx="8705850" cy="596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610600" cy="6400800"/>
          </a:xfrm>
        </p:spPr>
        <p:txBody>
          <a:bodyPr/>
          <a:lstStyle/>
          <a:p>
            <a:endParaRPr lang="en-US" dirty="0"/>
          </a:p>
        </p:txBody>
      </p:sp>
      <p:pic>
        <p:nvPicPr>
          <p:cNvPr id="4" name="Picture 3"/>
          <p:cNvPicPr/>
          <p:nvPr/>
        </p:nvPicPr>
        <p:blipFill>
          <a:blip r:embed="rId2" cstate="print"/>
          <a:stretch>
            <a:fillRect/>
          </a:stretch>
        </p:blipFill>
        <p:spPr>
          <a:xfrm>
            <a:off x="304800" y="228600"/>
            <a:ext cx="8610600" cy="6400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Points</a:t>
            </a:r>
            <a:endParaRPr lang="en-US" dirty="0"/>
          </a:p>
        </p:txBody>
      </p:sp>
      <p:sp>
        <p:nvSpPr>
          <p:cNvPr id="3" name="Content Placeholder 2"/>
          <p:cNvSpPr>
            <a:spLocks noGrp="1"/>
          </p:cNvSpPr>
          <p:nvPr>
            <p:ph idx="1"/>
          </p:nvPr>
        </p:nvSpPr>
        <p:spPr>
          <a:xfrm>
            <a:off x="457200" y="1371600"/>
            <a:ext cx="8229600" cy="5181600"/>
          </a:xfrm>
        </p:spPr>
        <p:txBody>
          <a:bodyPr>
            <a:normAutofit fontScale="40000" lnSpcReduction="20000"/>
          </a:bodyPr>
          <a:lstStyle/>
          <a:p>
            <a:pPr>
              <a:buNone/>
            </a:pPr>
            <a:r>
              <a:rPr lang="en-US" dirty="0" smtClean="0"/>
              <a:t>	</a:t>
            </a:r>
            <a:r>
              <a:rPr lang="en-US" sz="5500" dirty="0" smtClean="0"/>
              <a:t>Accurate and clear requirements form the basis of the entire software development process, and the first step in formulating these is by performing Systems Analysis, which makes use of a variety of techniques for discovering use needs and features. Elicitation of requirements is successfully achieved, like any action requiring skill, by application of the Maharishi Vedic Science principle that the unlimited organizing power of Nature is available at each point in creation. </a:t>
            </a:r>
          </a:p>
          <a:p>
            <a:pPr>
              <a:buNone/>
            </a:pPr>
            <a:endParaRPr lang="en-US" dirty="0" smtClean="0"/>
          </a:p>
          <a:p>
            <a:r>
              <a:rPr lang="en-US" sz="4500" dirty="0" smtClean="0"/>
              <a:t>To build a good software system that meets the needs of stakeholders, it is not enough to make </a:t>
            </a:r>
            <a:r>
              <a:rPr lang="en-US" sz="4500" dirty="0" smtClean="0"/>
              <a:t>use of best practices for design and implementation</a:t>
            </a:r>
            <a:r>
              <a:rPr lang="en-US" sz="4500" dirty="0" smtClean="0"/>
              <a:t>. </a:t>
            </a:r>
            <a:r>
              <a:rPr lang="en-US" sz="4500" dirty="0" smtClean="0"/>
              <a:t>It is also necessary to obtain a clearly formulated set of user requirements. To achieve this aim requires significant interaction with the users and other stakeholders. This fact illustrates a parallel theme in Maharishi Vedic Science: Though the universe does emerge from the dynamics of pure consciousness, these dynamics are not remote or separate from the day-to-day reality of the universe; in fact, they are fully present at every point in creation. Likewise, to be a maximally effective software developer, one must be able to apply best practices and abstract principles, but at the same time, do so in the midst of – and not divorced from – the problem domain.</a:t>
            </a:r>
            <a:endParaRPr lang="en-US" sz="4500" dirty="0" smtClean="0"/>
          </a:p>
          <a:p>
            <a:pPr>
              <a:buNone/>
            </a:pPr>
            <a:r>
              <a:rPr lang="en-US"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CONNECTING THE PARTS OF KNOWLEDGE</a:t>
            </a:r>
            <a:br>
              <a:rPr lang="en-US" sz="3600" dirty="0" smtClean="0"/>
            </a:br>
            <a:r>
              <a:rPr lang="en-US" sz="3600" dirty="0" smtClean="0"/>
              <a:t>WITH THE WHOLENESS OF KNOWLEDGE</a:t>
            </a:r>
            <a:endParaRPr lang="en-US" sz="3600" dirty="0"/>
          </a:p>
        </p:txBody>
      </p:sp>
      <p:sp>
        <p:nvSpPr>
          <p:cNvPr id="3" name="Content Placeholder 2"/>
          <p:cNvSpPr>
            <a:spLocks noGrp="1"/>
          </p:cNvSpPr>
          <p:nvPr>
            <p:ph idx="1"/>
          </p:nvPr>
        </p:nvSpPr>
        <p:spPr>
          <a:xfrm>
            <a:off x="457200" y="1447800"/>
            <a:ext cx="8382000" cy="5029200"/>
          </a:xfrm>
        </p:spPr>
        <p:txBody>
          <a:bodyPr>
            <a:normAutofit fontScale="77500" lnSpcReduction="20000"/>
          </a:bodyPr>
          <a:lstStyle/>
          <a:p>
            <a:pPr algn="ctr">
              <a:buNone/>
            </a:pPr>
            <a:r>
              <a:rPr lang="en-US" dirty="0" smtClean="0"/>
              <a:t>Introduction to Software Engineering</a:t>
            </a:r>
          </a:p>
          <a:p>
            <a:pPr marL="514350" indent="-514350">
              <a:buAutoNum type="arabicPeriod"/>
            </a:pPr>
            <a:r>
              <a:rPr lang="en-US" sz="2800" dirty="0" smtClean="0"/>
              <a:t>Requirements analysis starts by defining and documenting the </a:t>
            </a:r>
            <a:r>
              <a:rPr lang="en-US" sz="2800" i="1" dirty="0" smtClean="0"/>
              <a:t>problem</a:t>
            </a:r>
            <a:r>
              <a:rPr lang="en-US" sz="2800" dirty="0" smtClean="0"/>
              <a:t>, </a:t>
            </a:r>
            <a:r>
              <a:rPr lang="en-US" sz="2800" i="1" dirty="0" smtClean="0"/>
              <a:t>client needs</a:t>
            </a:r>
            <a:r>
              <a:rPr lang="en-US" sz="2800" dirty="0" smtClean="0"/>
              <a:t> and </a:t>
            </a:r>
            <a:r>
              <a:rPr lang="en-US" sz="2800" i="1" dirty="0" smtClean="0"/>
              <a:t>features</a:t>
            </a:r>
            <a:r>
              <a:rPr lang="en-US" sz="2800" dirty="0" smtClean="0"/>
              <a:t>.</a:t>
            </a:r>
            <a:endParaRPr lang="en-US" sz="2800" dirty="0" smtClean="0"/>
          </a:p>
          <a:p>
            <a:pPr marL="514350" indent="-514350">
              <a:buAutoNum type="arabicPeriod"/>
            </a:pPr>
            <a:r>
              <a:rPr lang="en-US" sz="2800" dirty="0" smtClean="0"/>
              <a:t>There are inherent complexities in accurately eliciting client needs. It must be done carefully and systematically in order to form a solid foundation for the rest of the software development process.</a:t>
            </a:r>
            <a:endParaRPr lang="en-US" sz="2800" dirty="0" smtClean="0"/>
          </a:p>
          <a:p>
            <a:pPr marL="514350" indent="-514350">
              <a:buNone/>
            </a:pPr>
            <a:r>
              <a:rPr lang="en-US" sz="2800" dirty="0" smtClean="0"/>
              <a:t>	_________________________________________________</a:t>
            </a:r>
          </a:p>
          <a:p>
            <a:pPr marL="514350" indent="-514350">
              <a:buNone/>
            </a:pPr>
            <a:endParaRPr lang="en-US" sz="2800" dirty="0" smtClean="0"/>
          </a:p>
          <a:p>
            <a:pPr marL="514350" indent="-514350">
              <a:buFont typeface="+mj-lt"/>
              <a:buAutoNum type="arabicPeriod" startAt="3"/>
            </a:pPr>
            <a:r>
              <a:rPr lang="en-US" sz="2800" b="1" dirty="0" smtClean="0"/>
              <a:t>Transcendental consciousness</a:t>
            </a:r>
            <a:r>
              <a:rPr lang="en-US" sz="2800" dirty="0" smtClean="0"/>
              <a:t> </a:t>
            </a:r>
            <a:r>
              <a:rPr lang="en-US" sz="2800" dirty="0" smtClean="0"/>
              <a:t>is the pure field of </a:t>
            </a:r>
            <a:r>
              <a:rPr lang="en-US" sz="2800" dirty="0" err="1" smtClean="0"/>
              <a:t>soultions</a:t>
            </a:r>
            <a:r>
              <a:rPr lang="en-US" sz="2800" dirty="0" smtClean="0"/>
              <a:t>; the field of </a:t>
            </a:r>
            <a:r>
              <a:rPr lang="en-US" sz="2800" i="1" dirty="0" smtClean="0"/>
              <a:t>all possibilities</a:t>
            </a:r>
            <a:r>
              <a:rPr lang="en-US" sz="2800" dirty="0" smtClean="0"/>
              <a:t>.</a:t>
            </a:r>
            <a:endParaRPr lang="en-US" sz="2800" dirty="0" smtClean="0"/>
          </a:p>
          <a:p>
            <a:pPr marL="514350" indent="-514350">
              <a:buAutoNum type="arabicPeriod" startAt="3"/>
            </a:pPr>
            <a:r>
              <a:rPr lang="en-US" sz="2800" b="1" dirty="0" smtClean="0"/>
              <a:t>Impulses within the Transcendental field</a:t>
            </a:r>
            <a:r>
              <a:rPr lang="en-US" sz="2800" dirty="0" smtClean="0"/>
              <a:t>: </a:t>
            </a:r>
            <a:r>
              <a:rPr lang="en-US" sz="2800" dirty="0" smtClean="0"/>
              <a:t>Pure consciousness is the home of nature’s infinite creativity. Engaging this field saturates the individual mind with lively value of creative solutions. </a:t>
            </a:r>
            <a:endParaRPr lang="en-US" sz="2800" dirty="0" smtClean="0"/>
          </a:p>
          <a:p>
            <a:pPr marL="514350" indent="-514350">
              <a:buAutoNum type="arabicPeriod" startAt="3"/>
            </a:pPr>
            <a:r>
              <a:rPr lang="en-US" sz="2800" b="1" dirty="0" smtClean="0"/>
              <a:t>Wholeness moving within itself</a:t>
            </a:r>
            <a:r>
              <a:rPr lang="en-US" sz="2800" dirty="0" smtClean="0"/>
              <a:t>: In Unity Consciousness, </a:t>
            </a:r>
            <a:r>
              <a:rPr lang="en-US" sz="2800" dirty="0" smtClean="0"/>
              <a:t>solutions to problems arise effortlessly and are experienced as the lively flow of pure consciousness within itself.</a:t>
            </a:r>
            <a:endParaRPr lang="en-US" sz="2800" dirty="0"/>
          </a:p>
        </p:txBody>
      </p:sp>
      <p:sp>
        <p:nvSpPr>
          <p:cNvPr id="4" name="Curved Left Arrow 3"/>
          <p:cNvSpPr/>
          <p:nvPr/>
        </p:nvSpPr>
        <p:spPr>
          <a:xfrm flipV="1">
            <a:off x="8153400" y="2971800"/>
            <a:ext cx="877078" cy="2514600"/>
          </a:xfrm>
          <a:prstGeom prst="curvedLeftArrow">
            <a:avLst/>
          </a:prstGeom>
          <a:solidFill>
            <a:schemeClr val="accent4">
              <a:alpha val="2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59</Words>
  <Application>Microsoft Office PowerPoint</Application>
  <PresentationFormat>On-screen Show (4:3)</PresentationFormat>
  <Paragraphs>14</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Slide 1</vt:lpstr>
      <vt:lpstr>Slide 2</vt:lpstr>
      <vt:lpstr>Main Points</vt:lpstr>
      <vt:lpstr>CONNECTING THE PARTS OF KNOWLEDGE WITH THE WHOLENESS OF KNOWLEDGE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obinna</dc:creator>
  <cp:lastModifiedBy>obinna</cp:lastModifiedBy>
  <cp:revision>50</cp:revision>
  <dcterms:created xsi:type="dcterms:W3CDTF">2020-02-21T17:51:56Z</dcterms:created>
  <dcterms:modified xsi:type="dcterms:W3CDTF">2020-02-24T05:17:23Z</dcterms:modified>
</cp:coreProperties>
</file>