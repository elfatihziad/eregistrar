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3" r:id="rId17"/>
    <p:sldId id="274" r:id="rId18"/>
    <p:sldId id="275" r:id="rId19"/>
    <p:sldId id="276" r:id="rId20"/>
    <p:sldId id="271" r:id="rId21"/>
    <p:sldId id="27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224" y="-3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29E2B-3B4A-4139-8792-EE208F8A72FB}" type="datetimeFigureOut">
              <a:rPr lang="en-US" smtClean="0"/>
              <a:pPr/>
              <a:t>2020-02-23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2B7CAB-08AC-46A1-BEA4-01FF68A8BC6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609600"/>
            <a:ext cx="8686800" cy="5943600"/>
          </a:xfrm>
        </p:spPr>
        <p:txBody>
          <a:bodyPr/>
          <a:lstStyle/>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19075" y="447675"/>
            <a:ext cx="8705850" cy="5962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610600" cy="6400800"/>
          </a:xfrm>
        </p:spPr>
        <p:txBody>
          <a:bodyPr/>
          <a:lstStyle/>
          <a:p>
            <a:endParaRPr lang="en-US" dirty="0"/>
          </a:p>
        </p:txBody>
      </p:sp>
      <p:pic>
        <p:nvPicPr>
          <p:cNvPr id="4" name="Picture 3"/>
          <p:cNvPicPr/>
          <p:nvPr/>
        </p:nvPicPr>
        <p:blipFill>
          <a:blip r:embed="rId2" cstate="print"/>
          <a:stretch>
            <a:fillRect/>
          </a:stretch>
        </p:blipFill>
        <p:spPr>
          <a:xfrm>
            <a:off x="304800" y="228600"/>
            <a:ext cx="8610600" cy="64008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Lesson 1: </a:t>
            </a:r>
            <a:br>
              <a:rPr lang="en-US" dirty="0" smtClean="0"/>
            </a:br>
            <a:r>
              <a:rPr lang="en-US" dirty="0" smtClean="0"/>
              <a:t>Course Introduction</a:t>
            </a:r>
            <a:endParaRPr lang="en-US" dirty="0"/>
          </a:p>
        </p:txBody>
      </p:sp>
      <p:sp>
        <p:nvSpPr>
          <p:cNvPr id="3" name="Subtitle 2"/>
          <p:cNvSpPr>
            <a:spLocks noGrp="1"/>
          </p:cNvSpPr>
          <p:nvPr>
            <p:ph type="subTitle" idx="1"/>
          </p:nvPr>
        </p:nvSpPr>
        <p:spPr/>
        <p:txBody>
          <a:bodyPr/>
          <a:lstStyle/>
          <a:p>
            <a:r>
              <a:rPr lang="en-US" dirty="0" smtClean="0"/>
              <a:t>Knowledge Has Organizing Power</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Course Introduction</a:t>
            </a:r>
            <a:endParaRPr lang="en-US" dirty="0"/>
          </a:p>
        </p:txBody>
      </p:sp>
      <p:sp>
        <p:nvSpPr>
          <p:cNvPr id="3" name="Content Placeholder 2"/>
          <p:cNvSpPr>
            <a:spLocks noGrp="1"/>
          </p:cNvSpPr>
          <p:nvPr>
            <p:ph idx="1"/>
          </p:nvPr>
        </p:nvSpPr>
        <p:spPr/>
        <p:txBody>
          <a:bodyPr/>
          <a:lstStyle/>
          <a:p>
            <a:r>
              <a:rPr lang="en-US" dirty="0" smtClean="0"/>
              <a:t>Introduction to Software Engineering</a:t>
            </a:r>
          </a:p>
          <a:p>
            <a:r>
              <a:rPr lang="en-US" dirty="0" smtClean="0"/>
              <a:t>Course project</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the Course</a:t>
            </a:r>
            <a:endParaRPr lang="en-US" dirty="0"/>
          </a:p>
        </p:txBody>
      </p:sp>
      <p:sp>
        <p:nvSpPr>
          <p:cNvPr id="3" name="Content Placeholder 2"/>
          <p:cNvSpPr>
            <a:spLocks noGrp="1"/>
          </p:cNvSpPr>
          <p:nvPr>
            <p:ph idx="1"/>
          </p:nvPr>
        </p:nvSpPr>
        <p:spPr>
          <a:xfrm>
            <a:off x="304800" y="1600200"/>
            <a:ext cx="8534400" cy="4525963"/>
          </a:xfrm>
        </p:spPr>
        <p:txBody>
          <a:bodyPr/>
          <a:lstStyle/>
          <a:p>
            <a:r>
              <a:rPr lang="en-US" dirty="0" smtClean="0"/>
              <a:t>Course Approach:</a:t>
            </a:r>
          </a:p>
          <a:p>
            <a:pPr lvl="1"/>
            <a:r>
              <a:rPr lang="en-US" dirty="0" smtClean="0"/>
              <a:t>Project Teams: 3 – 4 members</a:t>
            </a:r>
          </a:p>
          <a:p>
            <a:pPr lvl="1"/>
            <a:r>
              <a:rPr lang="en-US" dirty="0" smtClean="0"/>
              <a:t>Each team will be expected to execute on their project, covering all the steps of software engineering, up to system testing and deployment</a:t>
            </a:r>
          </a:p>
          <a:p>
            <a:pPr lvl="1"/>
            <a:r>
              <a:rPr lang="en-US" dirty="0" smtClean="0"/>
              <a:t>Each team will give 2 presentations:</a:t>
            </a:r>
          </a:p>
          <a:p>
            <a:pPr lvl="2"/>
            <a:r>
              <a:rPr lang="en-US" dirty="0" smtClean="0"/>
              <a:t>System design presentation</a:t>
            </a:r>
          </a:p>
          <a:p>
            <a:pPr lvl="2"/>
            <a:r>
              <a:rPr lang="en-US" dirty="0"/>
              <a:t>D</a:t>
            </a:r>
            <a:r>
              <a:rPr lang="en-US" dirty="0" smtClean="0"/>
              <a:t>emo of the finished project</a:t>
            </a:r>
          </a:p>
          <a:p>
            <a:r>
              <a:rPr lang="en-US" dirty="0" smtClean="0"/>
              <a:t>Course website: See Sakai CS425-2020-01A-01D</a:t>
            </a:r>
          </a:p>
          <a:p>
            <a:pPr>
              <a:buNone/>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Brief History of Software Engineering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Early day: small toy programs</a:t>
            </a:r>
          </a:p>
          <a:p>
            <a:r>
              <a:rPr lang="en-US" dirty="0" smtClean="0"/>
              <a:t>As programming languages and processing speed improved, more useful applications were developed</a:t>
            </a:r>
          </a:p>
          <a:p>
            <a:r>
              <a:rPr lang="en-US" dirty="0" smtClean="0"/>
              <a:t>New problems arose in creating still larger applications:</a:t>
            </a:r>
          </a:p>
          <a:p>
            <a:pPr lvl="1"/>
            <a:r>
              <a:rPr lang="en-US" dirty="0" smtClean="0"/>
              <a:t>Need for effective way to communicate requirements</a:t>
            </a:r>
          </a:p>
          <a:p>
            <a:pPr lvl="1"/>
            <a:r>
              <a:rPr lang="en-US" dirty="0" smtClean="0"/>
              <a:t>Need for effective way to formulate and communicate design ideas; to record what has been done so far and why</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of Solutions</a:t>
            </a:r>
            <a:endParaRPr lang="en-US" dirty="0"/>
          </a:p>
        </p:txBody>
      </p:sp>
      <p:sp>
        <p:nvSpPr>
          <p:cNvPr id="3" name="Content Placeholder 2"/>
          <p:cNvSpPr>
            <a:spLocks noGrp="1"/>
          </p:cNvSpPr>
          <p:nvPr>
            <p:ph idx="1"/>
          </p:nvPr>
        </p:nvSpPr>
        <p:spPr/>
        <p:txBody>
          <a:bodyPr/>
          <a:lstStyle/>
          <a:p>
            <a:r>
              <a:rPr lang="en-US" dirty="0" smtClean="0"/>
              <a:t>Early solutions:</a:t>
            </a:r>
          </a:p>
          <a:p>
            <a:pPr lvl="1"/>
            <a:r>
              <a:rPr lang="en-US" dirty="0" smtClean="0"/>
              <a:t>More emphasis on documentation and good documentation styles</a:t>
            </a:r>
          </a:p>
          <a:p>
            <a:pPr lvl="1"/>
            <a:r>
              <a:rPr lang="en-US" dirty="0" smtClean="0"/>
              <a:t>Tools were developed to help visualize software design (eventually lead to, the UML)</a:t>
            </a:r>
          </a:p>
          <a:p>
            <a:pPr lvl="1"/>
            <a:r>
              <a:rPr lang="en-US" dirty="0" smtClean="0"/>
              <a:t>A new design paradigm emerged – the “Object-Oriented” paradigm, which greatly facilitated the process of building larger scale applications with less cost and fewer failures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534400" cy="1143000"/>
          </a:xfrm>
        </p:spPr>
        <p:txBody>
          <a:bodyPr>
            <a:normAutofit fontScale="90000"/>
          </a:bodyPr>
          <a:lstStyle/>
          <a:p>
            <a:r>
              <a:rPr lang="en-US" dirty="0" smtClean="0"/>
              <a:t>Software Development Processes </a:t>
            </a:r>
            <a:br>
              <a:rPr lang="en-US" dirty="0" smtClean="0"/>
            </a:br>
            <a:r>
              <a:rPr lang="en-US" dirty="0" smtClean="0"/>
              <a:t>and RUP</a:t>
            </a:r>
            <a:endParaRPr lang="en-US" dirty="0"/>
          </a:p>
        </p:txBody>
      </p:sp>
      <p:sp>
        <p:nvSpPr>
          <p:cNvPr id="3" name="Content Placeholder 2"/>
          <p:cNvSpPr>
            <a:spLocks noGrp="1"/>
          </p:cNvSpPr>
          <p:nvPr>
            <p:ph idx="1"/>
          </p:nvPr>
        </p:nvSpPr>
        <p:spPr/>
        <p:txBody>
          <a:bodyPr/>
          <a:lstStyle/>
          <a:p>
            <a:r>
              <a:rPr lang="en-US" dirty="0" smtClean="0"/>
              <a:t>Emergence of Software Development Processes</a:t>
            </a:r>
          </a:p>
          <a:p>
            <a:r>
              <a:rPr lang="en-US" dirty="0" smtClean="0"/>
              <a:t>As developers learned good OO techniques and documentation practices, the problem that remained: How to put all of the techniques together to produce good software?</a:t>
            </a:r>
          </a:p>
          <a:p>
            <a:r>
              <a:rPr lang="en-US" dirty="0" smtClean="0"/>
              <a:t>The following questions needed addressing:</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Development Processes </a:t>
            </a:r>
            <a:br>
              <a:rPr lang="en-US" dirty="0" smtClean="0"/>
            </a:br>
            <a:r>
              <a:rPr lang="en-US" dirty="0" smtClean="0"/>
              <a:t>and RUP</a:t>
            </a:r>
            <a:endParaRPr lang="en-US" dirty="0"/>
          </a:p>
        </p:txBody>
      </p:sp>
      <p:sp>
        <p:nvSpPr>
          <p:cNvPr id="3" name="Content Placeholder 2"/>
          <p:cNvSpPr>
            <a:spLocks noGrp="1"/>
          </p:cNvSpPr>
          <p:nvPr>
            <p:ph idx="1"/>
          </p:nvPr>
        </p:nvSpPr>
        <p:spPr/>
        <p:txBody>
          <a:bodyPr>
            <a:normAutofit fontScale="92500"/>
          </a:bodyPr>
          <a:lstStyle/>
          <a:p>
            <a:r>
              <a:rPr lang="en-US" dirty="0" smtClean="0"/>
              <a:t>How long do we spend on initial requirements?</a:t>
            </a:r>
          </a:p>
          <a:p>
            <a:r>
              <a:rPr lang="en-US" dirty="0" smtClean="0"/>
              <a:t>To what extent do requirements need to be fully understood before beginning design? Coding?</a:t>
            </a:r>
          </a:p>
          <a:p>
            <a:r>
              <a:rPr lang="en-US" dirty="0" smtClean="0"/>
              <a:t>How do we formulate a plan for completing a project when most of the details about the project are unknown?</a:t>
            </a:r>
          </a:p>
          <a:p>
            <a:r>
              <a:rPr lang="en-US" dirty="0" smtClean="0"/>
              <a:t>How do we make sure that the stakeholders for the project are satisfied with the end-result?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Development Processes </a:t>
            </a:r>
            <a:br>
              <a:rPr lang="en-US" dirty="0" smtClean="0"/>
            </a:br>
            <a:r>
              <a:rPr lang="en-US" dirty="0" smtClean="0"/>
              <a:t>and RUP</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Software development processes address these concerns</a:t>
            </a:r>
          </a:p>
          <a:p>
            <a:r>
              <a:rPr lang="en-US" dirty="0" smtClean="0"/>
              <a:t>RUP = Rational Unified Process has become the industry standard for providing methods of development that provide reliable answers to these questions</a:t>
            </a:r>
          </a:p>
          <a:p>
            <a:r>
              <a:rPr lang="en-US" dirty="0" smtClean="0"/>
              <a:t>Agile Modeling, and agile development methods including SCRUM and </a:t>
            </a:r>
            <a:r>
              <a:rPr lang="en-US" dirty="0" err="1" smtClean="0"/>
              <a:t>eXtreme</a:t>
            </a:r>
            <a:r>
              <a:rPr lang="en-US" dirty="0" smtClean="0"/>
              <a:t> programming are widely used.</a:t>
            </a:r>
          </a:p>
          <a:p>
            <a:r>
              <a:rPr lang="en-US" dirty="0" smtClean="0"/>
              <a:t>SCRUM and </a:t>
            </a:r>
            <a:r>
              <a:rPr lang="en-US" dirty="0" err="1" smtClean="0"/>
              <a:t>eXtreme</a:t>
            </a:r>
            <a:r>
              <a:rPr lang="en-US" dirty="0" smtClean="0"/>
              <a:t> are compatible with RUP.</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Software Development Processes </a:t>
            </a:r>
            <a:br>
              <a:rPr lang="en-US" dirty="0" smtClean="0"/>
            </a:br>
            <a:r>
              <a:rPr lang="en-US" dirty="0" smtClean="0"/>
              <a:t>and RUP</a:t>
            </a:r>
            <a:endParaRPr lang="en-US" dirty="0"/>
          </a:p>
        </p:txBody>
      </p:sp>
      <p:sp>
        <p:nvSpPr>
          <p:cNvPr id="3" name="Content Placeholder 2"/>
          <p:cNvSpPr>
            <a:spLocks noGrp="1"/>
          </p:cNvSpPr>
          <p:nvPr>
            <p:ph idx="1"/>
          </p:nvPr>
        </p:nvSpPr>
        <p:spPr/>
        <p:txBody>
          <a:bodyPr/>
          <a:lstStyle/>
          <a:p>
            <a:r>
              <a:rPr lang="en-US" dirty="0" smtClean="0"/>
              <a:t>Goal –&gt; optimize and choose the best software development method based on project size, staff expertise, project goals, and other project specific characteristics.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Fundamental Goals of Software Engineering</a:t>
            </a:r>
            <a:endParaRPr lang="en-US" dirty="0"/>
          </a:p>
        </p:txBody>
      </p:sp>
      <p:sp>
        <p:nvSpPr>
          <p:cNvPr id="3" name="Content Placeholder 2"/>
          <p:cNvSpPr>
            <a:spLocks noGrp="1"/>
          </p:cNvSpPr>
          <p:nvPr>
            <p:ph idx="1"/>
          </p:nvPr>
        </p:nvSpPr>
        <p:spPr/>
        <p:txBody>
          <a:bodyPr>
            <a:normAutofit lnSpcReduction="10000"/>
          </a:bodyPr>
          <a:lstStyle/>
          <a:p>
            <a:r>
              <a:rPr lang="en-US" dirty="0" smtClean="0"/>
              <a:t>Examining the aims of development methodologies, we see several fundamental goals:</a:t>
            </a:r>
          </a:p>
          <a:p>
            <a:pPr lvl="1"/>
            <a:r>
              <a:rPr lang="en-US" dirty="0" smtClean="0"/>
              <a:t>A clear vision about a project that can be communicated to others (“see the tree in the seed”).</a:t>
            </a:r>
          </a:p>
          <a:p>
            <a:pPr lvl="1"/>
            <a:r>
              <a:rPr lang="en-US" dirty="0" smtClean="0"/>
              <a:t>Ability to respond positively to change</a:t>
            </a:r>
          </a:p>
          <a:p>
            <a:pPr lvl="1"/>
            <a:r>
              <a:rPr lang="en-US" dirty="0" smtClean="0"/>
              <a:t>Ability to minimize mistakes</a:t>
            </a:r>
          </a:p>
          <a:p>
            <a:pPr lvl="1"/>
            <a:r>
              <a:rPr lang="en-US" dirty="0" smtClean="0"/>
              <a:t>Ability to fulfill a large-scale intention (get the right result on time and within budget)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Fundamental Goals of Software Engineering</a:t>
            </a:r>
            <a:endParaRPr lang="en-US" dirty="0"/>
          </a:p>
        </p:txBody>
      </p:sp>
      <p:sp>
        <p:nvSpPr>
          <p:cNvPr id="3" name="Content Placeholder 2"/>
          <p:cNvSpPr>
            <a:spLocks noGrp="1"/>
          </p:cNvSpPr>
          <p:nvPr>
            <p:ph idx="1"/>
          </p:nvPr>
        </p:nvSpPr>
        <p:spPr/>
        <p:txBody>
          <a:bodyPr/>
          <a:lstStyle/>
          <a:p>
            <a:r>
              <a:rPr lang="en-US" dirty="0" smtClean="0"/>
              <a:t>These aims have as much to do with the quality of the developer’s awareness as they do about </a:t>
            </a:r>
            <a:r>
              <a:rPr lang="en-US" dirty="0" smtClean="0"/>
              <a:t>the development </a:t>
            </a:r>
            <a:r>
              <a:rPr lang="en-US" dirty="0" smtClean="0"/>
              <a:t>processes themselves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Role of Transcendental Meditation (TM) in Software Engineering</a:t>
            </a:r>
            <a:endParaRPr lang="en-US" dirty="0"/>
          </a:p>
        </p:txBody>
      </p:sp>
      <p:sp>
        <p:nvSpPr>
          <p:cNvPr id="3" name="Content Placeholder 2"/>
          <p:cNvSpPr>
            <a:spLocks noGrp="1"/>
          </p:cNvSpPr>
          <p:nvPr>
            <p:ph idx="1"/>
          </p:nvPr>
        </p:nvSpPr>
        <p:spPr/>
        <p:txBody>
          <a:bodyPr>
            <a:normAutofit lnSpcReduction="10000"/>
          </a:bodyPr>
          <a:lstStyle/>
          <a:p>
            <a:r>
              <a:rPr lang="en-US" dirty="0" smtClean="0"/>
              <a:t>Hundreds of studies and the experience of thousands of practitioners – including software developers – verify that the qualities needed for successful software development are developed and enhanced by TM</a:t>
            </a:r>
          </a:p>
          <a:p>
            <a:pPr lvl="1"/>
            <a:r>
              <a:rPr lang="en-US" dirty="0" smtClean="0"/>
              <a:t>Clear thinking</a:t>
            </a:r>
          </a:p>
          <a:p>
            <a:pPr lvl="1"/>
            <a:r>
              <a:rPr lang="en-US" dirty="0" smtClean="0"/>
              <a:t>Ability to adapt to change</a:t>
            </a:r>
          </a:p>
          <a:p>
            <a:pPr lvl="1"/>
            <a:r>
              <a:rPr lang="en-US" dirty="0" smtClean="0"/>
              <a:t>Ability to achieve set goals</a:t>
            </a:r>
          </a:p>
          <a:p>
            <a:pPr lvl="1"/>
            <a:r>
              <a:rPr lang="en-US" dirty="0" smtClean="0"/>
              <a:t>Ability to make fewer mistakes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Role of Transcendental Meditation (TM) in Software Engineering</a:t>
            </a:r>
            <a:endParaRPr lang="en-US" dirty="0"/>
          </a:p>
        </p:txBody>
      </p:sp>
      <p:sp>
        <p:nvSpPr>
          <p:cNvPr id="3" name="Content Placeholder 2"/>
          <p:cNvSpPr>
            <a:spLocks noGrp="1"/>
          </p:cNvSpPr>
          <p:nvPr>
            <p:ph idx="1"/>
          </p:nvPr>
        </p:nvSpPr>
        <p:spPr/>
        <p:txBody>
          <a:bodyPr/>
          <a:lstStyle/>
          <a:p>
            <a:r>
              <a:rPr lang="en-US" dirty="0" smtClean="0"/>
              <a:t>Science of Consciousness Principles:</a:t>
            </a:r>
          </a:p>
          <a:p>
            <a:pPr lvl="1"/>
            <a:r>
              <a:rPr lang="en-US" dirty="0" smtClean="0"/>
              <a:t>Subtler Levels of the Mind Are More Powerful</a:t>
            </a:r>
          </a:p>
          <a:p>
            <a:pPr lvl="1"/>
            <a:r>
              <a:rPr lang="en-US" dirty="0" smtClean="0"/>
              <a:t>Water the Root to enjoy the Fruit</a:t>
            </a:r>
          </a:p>
          <a:p>
            <a:r>
              <a:rPr lang="en-US" dirty="0" smtClean="0"/>
              <a:t>Frequently, during TM or immediately after TM, solutions to problems will spontaneously arise.</a:t>
            </a:r>
          </a:p>
          <a:p>
            <a:r>
              <a:rPr lang="en-US" dirty="0" smtClean="0"/>
              <a:t>The mind has had a chance to relax and transcend the level of the problem.</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Role of Transcendental Meditation (TM) in Software Engineering</a:t>
            </a:r>
            <a:endParaRPr lang="en-US" dirty="0"/>
          </a:p>
        </p:txBody>
      </p:sp>
      <p:sp>
        <p:nvSpPr>
          <p:cNvPr id="3" name="Content Placeholder 2"/>
          <p:cNvSpPr>
            <a:spLocks noGrp="1"/>
          </p:cNvSpPr>
          <p:nvPr>
            <p:ph idx="1"/>
          </p:nvPr>
        </p:nvSpPr>
        <p:spPr/>
        <p:txBody>
          <a:bodyPr>
            <a:normAutofit/>
          </a:bodyPr>
          <a:lstStyle/>
          <a:p>
            <a:r>
              <a:rPr lang="en-US" dirty="0" smtClean="0"/>
              <a:t>Science of Consciousness </a:t>
            </a:r>
            <a:r>
              <a:rPr lang="en-US" dirty="0" smtClean="0"/>
              <a:t>Principle:</a:t>
            </a:r>
          </a:p>
          <a:p>
            <a:pPr lvl="1"/>
            <a:r>
              <a:rPr lang="en-US" i="1" dirty="0" smtClean="0"/>
              <a:t>Release of stress and contact with Pure Consciousness supports spontaneous right action</a:t>
            </a:r>
          </a:p>
          <a:p>
            <a:pPr marL="914400" lvl="1" indent="-457200">
              <a:buFont typeface="+mj-lt"/>
              <a:buAutoNum type="arabicPeriod"/>
            </a:pPr>
            <a:r>
              <a:rPr lang="en-US" sz="2400" dirty="0" smtClean="0"/>
              <a:t>Learn to recognize when you and your team members are being </a:t>
            </a:r>
            <a:r>
              <a:rPr lang="en-US" sz="2400" dirty="0" smtClean="0"/>
              <a:t>stressed</a:t>
            </a:r>
          </a:p>
          <a:p>
            <a:pPr marL="914400" lvl="1" indent="-457200">
              <a:buFont typeface="+mj-lt"/>
              <a:buAutoNum type="arabicPeriod"/>
            </a:pPr>
            <a:r>
              <a:rPr lang="en-US" sz="2400" dirty="0" smtClean="0"/>
              <a:t>Team dynamics will start to deteriorate under stress. Stress causes spontaneous </a:t>
            </a:r>
            <a:r>
              <a:rPr lang="en-US" sz="2400" u="sng" dirty="0" smtClean="0"/>
              <a:t>wrong</a:t>
            </a:r>
            <a:r>
              <a:rPr lang="en-US" sz="2400" dirty="0" smtClean="0"/>
              <a:t> </a:t>
            </a:r>
            <a:r>
              <a:rPr lang="en-US" sz="2400" dirty="0" smtClean="0"/>
              <a:t>action</a:t>
            </a:r>
          </a:p>
          <a:p>
            <a:pPr marL="914400" lvl="1" indent="-457200">
              <a:buFont typeface="+mj-lt"/>
              <a:buAutoNum type="arabicPeriod"/>
            </a:pPr>
            <a:r>
              <a:rPr lang="en-US" sz="2400" dirty="0" smtClean="0"/>
              <a:t>Use TM® as a way to avoid and release </a:t>
            </a:r>
            <a:r>
              <a:rPr lang="en-US" sz="2400" dirty="0" smtClean="0"/>
              <a:t>stress</a:t>
            </a:r>
          </a:p>
          <a:p>
            <a:pPr marL="914400" lvl="1" indent="-457200">
              <a:buFont typeface="+mj-lt"/>
              <a:buAutoNum type="arabicPeriod"/>
            </a:pPr>
            <a:r>
              <a:rPr lang="en-US" sz="2400" dirty="0" smtClean="0"/>
              <a:t>One person with a balanced and calm perspective can improve a whole team’s productivity</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Role of Transcendental Meditation (TM) in Software Engineering</a:t>
            </a:r>
            <a:endParaRPr lang="en-US" dirty="0"/>
          </a:p>
        </p:txBody>
      </p:sp>
      <p:sp>
        <p:nvSpPr>
          <p:cNvPr id="3" name="Content Placeholder 2"/>
          <p:cNvSpPr>
            <a:spLocks noGrp="1"/>
          </p:cNvSpPr>
          <p:nvPr>
            <p:ph idx="1"/>
          </p:nvPr>
        </p:nvSpPr>
        <p:spPr/>
        <p:txBody>
          <a:bodyPr/>
          <a:lstStyle/>
          <a:p>
            <a:endParaRPr lang="en-US" dirty="0" smtClean="0">
              <a:solidFill>
                <a:schemeClr val="accent2"/>
              </a:solidFill>
            </a:endParaRPr>
          </a:p>
          <a:p>
            <a:pPr>
              <a:buNone/>
            </a:pPr>
            <a:r>
              <a:rPr lang="en-US" sz="3600" dirty="0" smtClean="0">
                <a:solidFill>
                  <a:schemeClr val="accent2"/>
                </a:solidFill>
              </a:rPr>
              <a:t>“Transcending </a:t>
            </a:r>
            <a:r>
              <a:rPr lang="en-US" sz="3600" dirty="0" smtClean="0">
                <a:solidFill>
                  <a:schemeClr val="accent2"/>
                </a:solidFill>
              </a:rPr>
              <a:t>thought is infinitely more valuable than </a:t>
            </a:r>
            <a:r>
              <a:rPr lang="en-US" sz="3600" dirty="0" smtClean="0">
                <a:solidFill>
                  <a:schemeClr val="accent2"/>
                </a:solidFill>
              </a:rPr>
              <a:t>thinking”.</a:t>
            </a:r>
            <a:r>
              <a:rPr lang="en-US" sz="3600" dirty="0" smtClean="0"/>
              <a:t> </a:t>
            </a:r>
          </a:p>
          <a:p>
            <a:pPr lvl="2">
              <a:buNone/>
            </a:pPr>
            <a:endParaRPr lang="en-US" dirty="0" smtClean="0"/>
          </a:p>
          <a:p>
            <a:pPr lvl="2">
              <a:buNone/>
            </a:pPr>
            <a:r>
              <a:rPr lang="en-US" sz="3200" dirty="0" smtClean="0"/>
              <a:t>--Maharishi Mahesh Yogi</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Course Project</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smtClean="0"/>
              <a:t>MIUScheduler</a:t>
            </a:r>
            <a:r>
              <a:rPr lang="en-US" dirty="0" smtClean="0"/>
              <a:t> – design and develop software solution for managing course registration and scheduling of classes to be used by MIU </a:t>
            </a:r>
            <a:r>
              <a:rPr lang="en-US" dirty="0" err="1" smtClean="0"/>
              <a:t>Compro</a:t>
            </a:r>
            <a:r>
              <a:rPr lang="en-US" dirty="0" smtClean="0"/>
              <a:t> Students, Faculty and Staff.</a:t>
            </a:r>
          </a:p>
          <a:p>
            <a:r>
              <a:rPr lang="en-US" dirty="0" smtClean="0"/>
              <a:t>The </a:t>
            </a:r>
            <a:r>
              <a:rPr lang="en-US" dirty="0" err="1" smtClean="0"/>
              <a:t>MIUScheduler</a:t>
            </a:r>
            <a:r>
              <a:rPr lang="en-US" dirty="0" smtClean="0"/>
              <a:t> system will </a:t>
            </a:r>
            <a:r>
              <a:rPr lang="en-US" dirty="0" smtClean="0"/>
              <a:t>take </a:t>
            </a:r>
            <a:r>
              <a:rPr lang="en-US" dirty="0" smtClean="0"/>
              <a:t>as input, the </a:t>
            </a:r>
            <a:r>
              <a:rPr lang="en-US" dirty="0" smtClean="0"/>
              <a:t>classes </a:t>
            </a:r>
            <a:r>
              <a:rPr lang="en-US" dirty="0" smtClean="0"/>
              <a:t>being offered in a block, </a:t>
            </a:r>
            <a:r>
              <a:rPr lang="en-US" dirty="0" smtClean="0"/>
              <a:t>the number of students for each entry, and the number of </a:t>
            </a:r>
            <a:r>
              <a:rPr lang="en-US" dirty="0" smtClean="0"/>
              <a:t>faculty, their areas of expertise and courses they teach. </a:t>
            </a:r>
            <a:r>
              <a:rPr lang="en-US" dirty="0" smtClean="0"/>
              <a:t>It will then generate a block-by-block schedule for </a:t>
            </a:r>
            <a:r>
              <a:rPr lang="en-US" dirty="0" smtClean="0"/>
              <a:t>the </a:t>
            </a:r>
            <a:r>
              <a:rPr lang="en-US" dirty="0" smtClean="0"/>
              <a:t>semester or academic year</a:t>
            </a:r>
            <a:r>
              <a:rPr lang="en-US" dirty="0" smtClean="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Course Project – tools and technologies</a:t>
            </a:r>
            <a:endParaRPr lang="en-US" dirty="0"/>
          </a:p>
        </p:txBody>
      </p:sp>
      <p:sp>
        <p:nvSpPr>
          <p:cNvPr id="3" name="Content Placeholder 2"/>
          <p:cNvSpPr>
            <a:spLocks noGrp="1"/>
          </p:cNvSpPr>
          <p:nvPr>
            <p:ph idx="1"/>
          </p:nvPr>
        </p:nvSpPr>
        <p:spPr>
          <a:xfrm>
            <a:off x="457200" y="1600200"/>
            <a:ext cx="8458200" cy="4876800"/>
          </a:xfrm>
        </p:spPr>
        <p:txBody>
          <a:bodyPr>
            <a:normAutofit fontScale="92500" lnSpcReduction="20000"/>
          </a:bodyPr>
          <a:lstStyle/>
          <a:p>
            <a:r>
              <a:rPr lang="en-US" dirty="0" smtClean="0"/>
              <a:t>You will be expected to use various industry standard tools and technologies, some of which you will learn about in this course, to help you execute on the project. Project teams may choose to use other comparable tools/technology stacks. Here is a sample:</a:t>
            </a:r>
          </a:p>
          <a:p>
            <a:pPr lvl="1"/>
            <a:r>
              <a:rPr lang="en-US" dirty="0" err="1" smtClean="0"/>
              <a:t>Github</a:t>
            </a:r>
            <a:r>
              <a:rPr lang="en-US" dirty="0" smtClean="0"/>
              <a:t> for team development</a:t>
            </a:r>
          </a:p>
          <a:p>
            <a:pPr lvl="1"/>
            <a:r>
              <a:rPr lang="en-US" dirty="0" smtClean="0"/>
              <a:t>UML for design</a:t>
            </a:r>
          </a:p>
          <a:p>
            <a:pPr lvl="1"/>
            <a:r>
              <a:rPr lang="en-US" dirty="0" smtClean="0"/>
              <a:t>Enterprise software dev stack - Java EE, Spring, .NET etc.</a:t>
            </a:r>
          </a:p>
          <a:p>
            <a:pPr lvl="1"/>
            <a:r>
              <a:rPr lang="en-US" dirty="0" smtClean="0"/>
              <a:t>SQL and/or </a:t>
            </a:r>
            <a:r>
              <a:rPr lang="en-US" dirty="0" err="1" smtClean="0"/>
              <a:t>NoSQL</a:t>
            </a:r>
            <a:r>
              <a:rPr lang="en-US" dirty="0" smtClean="0"/>
              <a:t> Database</a:t>
            </a:r>
          </a:p>
          <a:p>
            <a:pPr lvl="1"/>
            <a:r>
              <a:rPr lang="en-US" dirty="0" smtClean="0"/>
              <a:t>Unit Testing and mocking framework e.g. </a:t>
            </a:r>
            <a:r>
              <a:rPr lang="en-US" dirty="0" err="1" smtClean="0"/>
              <a:t>JUnit</a:t>
            </a:r>
            <a:r>
              <a:rPr lang="en-US" dirty="0" smtClean="0"/>
              <a:t>, </a:t>
            </a:r>
            <a:r>
              <a:rPr lang="en-US" dirty="0" err="1" smtClean="0"/>
              <a:t>Mockito</a:t>
            </a:r>
            <a:endParaRPr lang="en-US" dirty="0" smtClean="0"/>
          </a:p>
          <a:p>
            <a:pPr lvl="1"/>
            <a:r>
              <a:rPr lang="en-US" dirty="0" smtClean="0"/>
              <a:t>Software Dev Process model: Agile, RUP, Scrum etc.</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Points</a:t>
            </a:r>
            <a:endParaRPr lang="en-US" dirty="0"/>
          </a:p>
        </p:txBody>
      </p:sp>
      <p:sp>
        <p:nvSpPr>
          <p:cNvPr id="3" name="Content Placeholder 2"/>
          <p:cNvSpPr>
            <a:spLocks noGrp="1"/>
          </p:cNvSpPr>
          <p:nvPr>
            <p:ph idx="1"/>
          </p:nvPr>
        </p:nvSpPr>
        <p:spPr/>
        <p:txBody>
          <a:bodyPr>
            <a:normAutofit fontScale="92500"/>
          </a:bodyPr>
          <a:lstStyle/>
          <a:p>
            <a:r>
              <a:rPr lang="en-US" dirty="0" smtClean="0"/>
              <a:t>In this lesson, we are given an introduction to this Software Engineering course</a:t>
            </a:r>
          </a:p>
          <a:p>
            <a:r>
              <a:rPr lang="en-US" dirty="0" smtClean="0"/>
              <a:t>The Course project will require students to work in teams of 3 to 4 members</a:t>
            </a:r>
          </a:p>
          <a:p>
            <a:r>
              <a:rPr lang="en-US" b="1" dirty="0" smtClean="0"/>
              <a:t>Science of Consciousness</a:t>
            </a:r>
            <a:r>
              <a:rPr lang="en-US" dirty="0" smtClean="0"/>
              <a:t>: The benefits of TM include a clearer understanding of deeper principles of life, allowing us to more easily take the right actions to achieve a desired result.</a:t>
            </a:r>
          </a:p>
          <a:p>
            <a:pPr>
              <a:buNone/>
            </a:pPr>
            <a:r>
              <a:rPr lang="en-US" dirty="0" smtClean="0"/>
              <a:t>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CONNECTING THE PARTS OF KNOWLEDGE</a:t>
            </a:r>
            <a:br>
              <a:rPr lang="en-US" sz="3600" dirty="0" smtClean="0"/>
            </a:br>
            <a:r>
              <a:rPr lang="en-US" sz="3600" dirty="0" smtClean="0"/>
              <a:t>WITH THE WHOLENESS OF KNOWLEDGE</a:t>
            </a:r>
            <a:endParaRPr lang="en-US" sz="3600"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algn="ctr">
              <a:buNone/>
            </a:pPr>
            <a:r>
              <a:rPr lang="en-US" dirty="0" smtClean="0"/>
              <a:t>Introduction to Software Engineering</a:t>
            </a:r>
          </a:p>
          <a:p>
            <a:pPr marL="514350" indent="-514350">
              <a:buAutoNum type="arabicPeriod"/>
            </a:pPr>
            <a:r>
              <a:rPr lang="en-US" sz="2800" dirty="0" smtClean="0"/>
              <a:t>Software Engineering is the systematic application of a disciplined approach to the design, development, operation and maintenance of computer software. </a:t>
            </a:r>
          </a:p>
          <a:p>
            <a:pPr marL="514350" indent="-514350">
              <a:buAutoNum type="arabicPeriod"/>
            </a:pPr>
            <a:r>
              <a:rPr lang="en-US" sz="2800" dirty="0" smtClean="0"/>
              <a:t>Applying sound engineering principles, helps us to produce software that is reliable and works efficiently.</a:t>
            </a:r>
          </a:p>
          <a:p>
            <a:pPr marL="514350" indent="-514350">
              <a:buNone/>
            </a:pPr>
            <a:r>
              <a:rPr lang="en-US" sz="2800" dirty="0" smtClean="0"/>
              <a:t>	_________________________________________________</a:t>
            </a:r>
          </a:p>
          <a:p>
            <a:pPr marL="514350" indent="-514350">
              <a:buNone/>
            </a:pPr>
            <a:endParaRPr lang="en-US" sz="2800" dirty="0" smtClean="0"/>
          </a:p>
          <a:p>
            <a:pPr marL="514350" indent="-514350">
              <a:buFont typeface="+mj-lt"/>
              <a:buAutoNum type="arabicPeriod" startAt="3"/>
            </a:pPr>
            <a:r>
              <a:rPr lang="en-US" sz="2800" dirty="0" smtClean="0"/>
              <a:t>Transcendental consciousness is when our mind is in contact with the deepest underlying reality, the unified field.</a:t>
            </a:r>
          </a:p>
          <a:p>
            <a:pPr marL="514350" indent="-514350">
              <a:buAutoNum type="arabicPeriod" startAt="3"/>
            </a:pPr>
            <a:r>
              <a:rPr lang="en-US" sz="2800" dirty="0" smtClean="0"/>
              <a:t>Impulses within the Transcendental field: the infinite dynamism of the unified field constantly expresses itself and becomes all aspects of creation.</a:t>
            </a:r>
          </a:p>
          <a:p>
            <a:pPr marL="514350" indent="-514350">
              <a:buAutoNum type="arabicPeriod" startAt="3"/>
            </a:pPr>
            <a:r>
              <a:rPr lang="en-US" sz="2800" dirty="0" smtClean="0"/>
              <a:t>Wholeness moving within itself: In Unity Consciousness, one experiences that this infinite dynamism is nothing but the self.</a:t>
            </a:r>
            <a:endParaRPr lang="en-US" sz="2800" dirty="0"/>
          </a:p>
        </p:txBody>
      </p:sp>
      <p:sp>
        <p:nvSpPr>
          <p:cNvPr id="4" name="Curved Left Arrow 3"/>
          <p:cNvSpPr/>
          <p:nvPr/>
        </p:nvSpPr>
        <p:spPr>
          <a:xfrm flipV="1">
            <a:off x="7696200" y="2558142"/>
            <a:ext cx="1334278" cy="3080658"/>
          </a:xfrm>
          <a:prstGeom prst="curvedLeftArrow">
            <a:avLst/>
          </a:prstGeom>
          <a:solidFill>
            <a:schemeClr val="accent4">
              <a:alpha val="2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1004</Words>
  <Application>Microsoft Office PowerPoint</Application>
  <PresentationFormat>On-screen Show (4:3)</PresentationFormat>
  <Paragraphs>97</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Slide 1</vt:lpstr>
      <vt:lpstr>Slide 2</vt:lpstr>
      <vt:lpstr>Lesson 1:  Course Introduction</vt:lpstr>
      <vt:lpstr>Topics: Course Introduction</vt:lpstr>
      <vt:lpstr>Introduction to the Course</vt:lpstr>
      <vt:lpstr>Brief History of Software Engineering</vt:lpstr>
      <vt:lpstr>Evolution of Solutions</vt:lpstr>
      <vt:lpstr>Software Development Processes  and RUP</vt:lpstr>
      <vt:lpstr>Software Development Processes  and RUP</vt:lpstr>
      <vt:lpstr>Software Development Processes  and RUP</vt:lpstr>
      <vt:lpstr>Software Development Processes  and RUP</vt:lpstr>
      <vt:lpstr>Fundamental Goals of Software Engineering</vt:lpstr>
      <vt:lpstr>Fundamental Goals of Software Engineering</vt:lpstr>
      <vt:lpstr>The Role of Transcendental Meditation (TM) in Software Engineering</vt:lpstr>
      <vt:lpstr>The Role of Transcendental Meditation (TM) in Software Engineering</vt:lpstr>
      <vt:lpstr>The Role of Transcendental Meditation (TM) in Software Engineering</vt:lpstr>
      <vt:lpstr>The Role of Transcendental Meditation (TM) in Software Engineering</vt:lpstr>
      <vt:lpstr>Example Course Project</vt:lpstr>
      <vt:lpstr>Course Project – tools and technologies</vt:lpstr>
      <vt:lpstr>Main Points</vt:lpstr>
      <vt:lpstr>CONNECTING THE PARTS OF KNOWLEDGE WITH THE WHOLENESS OF KNOWLEDGE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obinna</dc:creator>
  <cp:lastModifiedBy>obinna</cp:lastModifiedBy>
  <cp:revision>38</cp:revision>
  <dcterms:created xsi:type="dcterms:W3CDTF">2020-02-21T17:51:56Z</dcterms:created>
  <dcterms:modified xsi:type="dcterms:W3CDTF">2020-02-24T04:07:48Z</dcterms:modified>
</cp:coreProperties>
</file>