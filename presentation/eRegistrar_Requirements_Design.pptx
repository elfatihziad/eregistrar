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eRegistrar: course scheduling and registration. Covers the vision, the use-case model, the architecture, and the analysis of the significant use cases, plus what is already running.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department outgrew its spreadsheet process. Four entries a year, up to 130 students each, and a three-week manual scheduling cycle. The rules exist but are enforced by people, 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problem-need-feature table produced ten features. F3 to F6 are the heart of it: generate the schedule, and enforce the registration rules at the point of attempt.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human actors and two external systems. Eleven use cases; the four architecturally significant ones get full descriptions with flows and business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UC6 is the highest-risk use case: it is the one with contention, and the one where a wrong answer is visible to students.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Microservices were considered and deferred rather than dismissed: the subsystem boundaries are drawn so services could be extracted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Dependencies point downwards only. The registration transaction stays inside one process, which is what makes the capacity guarantee affordable.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Messages flow actor to boundary to control to entity, never back up. The validator owns the rules so they cannot be bypassed by another entry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VOPC is the bridge to class design: these classes map directly onto the subsystems in the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homepage is the read-only half of UC6 rendered from the analysis model, so the design and the code already line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traceability: the chain from vision to code is unbroken, which is what makes the next iteration cheap to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5669280" cy="566928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3108960" cy="310896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0116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eRegistrar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scheduling and registration for a university department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FD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 and Design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Ziad El Fatih  ·  618971  ·  CS425 Software Engineering  ·  August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595360" y="5303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 — Vision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4F8F8"/>
          </a:solidFill>
          <a:ln w="12700">
            <a:solidFill>
              <a:srgbClr val="E1EA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7276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 per year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5786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from 3, each needing its own schedule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41732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4F8F8"/>
          </a:solidFill>
          <a:ln w="12700">
            <a:solidFill>
              <a:srgbClr val="E1EA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57276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100–130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61188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per entry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11880" y="25786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registering by paper form, re-keyed by staff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41732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4F8F8"/>
          </a:solidFill>
          <a:ln w="12700">
            <a:solidFill>
              <a:srgbClr val="E1EA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57276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8–9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44652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electives per block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25786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FPP and MPP courses to place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52560" y="141732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4F8F8"/>
          </a:solidFill>
          <a:ln w="12700">
            <a:solidFill>
              <a:srgbClr val="E1EA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81160" y="157276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 weeks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28116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one schedule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281160" y="25786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hand, in a spreadsheet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611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wrong today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800" y="402336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preferences arrive by email and are applied inconsistently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 and capacity violations surface after registration closes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schedule change forces a manual re-check of every registration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can see live enrolment until the spreadsheet is reconciled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58000" y="3611880"/>
            <a:ext cx="4754880" cy="2240280"/>
          </a:xfrm>
          <a:prstGeom prst="roundRect">
            <a:avLst>
              <a:gd name="adj" fmla="val 3265"/>
            </a:avLst>
          </a:prstGeom>
          <a:solidFill>
            <a:srgbClr val="0B3C40"/>
          </a:solidFill>
          <a:ln w="12700">
            <a:solidFill>
              <a:srgbClr val="E1EA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0" y="37947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successful solution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32320" y="420624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 holding courses, faculty profiles, programs and the schedule in a single database — applying the scheduling and prerequisite rules automatically, with role-appropriate web access for administrators, faculty and students.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driving the design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595360" y="5303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 — Problem / Need / Feature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4F8F8"/>
          </a:solidFill>
          <a:ln w="12700">
            <a:solidFill>
              <a:srgbClr val="E1EA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459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45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08760" y="1591056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Profile Management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193852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own their specializations, teachable courses and block availability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1371600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4F8F8"/>
          </a:solidFill>
          <a:ln w="12700">
            <a:solidFill>
              <a:srgbClr val="E1EA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16459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645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0" y="1591056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Generation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0" y="193852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schedule built from program requirements, qualification and availability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944368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4F8F8"/>
          </a:solidFill>
          <a:ln w="12700">
            <a:solidFill>
              <a:srgbClr val="E1EA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21868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218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08760" y="3163824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Conflict Detection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3511296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double-booking, no unqualified assignment — checked, not trusted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55080" y="2944368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4F8F8"/>
          </a:solidFill>
          <a:ln w="12700">
            <a:solidFill>
              <a:srgbClr val="E1EA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321868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218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0" y="3163824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Student Registration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315200" y="3511296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register themselves and get an immediate answer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517136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4F8F8"/>
          </a:solidFill>
          <a:ln w="12700">
            <a:solidFill>
              <a:srgbClr val="E1EA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79145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7914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508760" y="473659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Rule Enforcement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508760" y="5084064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Prerequisites, capacity, time conflicts and course load enforced at submit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55080" y="4517136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4F8F8"/>
          </a:solidFill>
          <a:ln w="12700">
            <a:solidFill>
              <a:srgbClr val="E1EA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0" y="479145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0" y="47914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F8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15200" y="473659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315200" y="5084064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sign-on with Admin, Faculty and Student roles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6172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features in total; these six are the ones the architecture has to satisfy.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Use-case model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595360" y="5303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 — SRS</a:t>
            </a:r>
            <a:endParaRPr lang="en-US" sz="1200" dirty="0"/>
          </a:p>
        </p:txBody>
      </p:sp>
      <p:pic>
        <p:nvPicPr>
          <p:cNvPr id="4" name="Image 0" descr="/Users/screwby/Projects/CS425/Lab2_SRS/diagrams/usecase_eregistr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5257800" cy="4754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63640" y="12344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263640" y="1645920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F4F8F8"/>
          </a:solidFill>
          <a:ln w="12700">
            <a:solidFill>
              <a:srgbClr val="E1EA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46520" y="17190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46520" y="1975104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drop courses, view schedule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2395728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F4F8F8"/>
          </a:solidFill>
          <a:ln w="12700">
            <a:solidFill>
              <a:srgbClr val="E1EA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46520" y="2468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46520" y="272491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profile, view sections and rosters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63640" y="3145536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F4F8F8"/>
          </a:solidFill>
          <a:ln w="12700">
            <a:solidFill>
              <a:srgbClr val="E1EA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46520" y="32186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46520" y="34747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Catalog, schedule generation, assignment, reports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63640" y="3895344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F4F8F8"/>
          </a:solidFill>
          <a:ln w="12700">
            <a:solidFill>
              <a:srgbClr val="E1EA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46520" y="39684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Provider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46520" y="422452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sign-on (external)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263640" y="4645152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F4F8F8"/>
          </a:solidFill>
          <a:ln w="12700">
            <a:solidFill>
              <a:srgbClr val="E1EAE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46520" y="47183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46520" y="4974336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records, published schedule (external)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263640" y="553212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use cases identified. UC3 and UC4 are described in full and carried into analysis.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UC4 — Register for Course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595360" y="5303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 — Use-case description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flow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67335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opens registration for the term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350008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350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3317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shows the published schedule with remaining seats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3008376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99008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selects a section and confirms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3666744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3666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364845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validates every rule before accepting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4325112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4325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30682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is created and a seat consumed — in one transaction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92240" y="1234440"/>
            <a:ext cx="5120640" cy="3703320"/>
          </a:xfrm>
          <a:prstGeom prst="roundRect">
            <a:avLst>
              <a:gd name="adj" fmla="val 1975"/>
            </a:avLst>
          </a:prstGeom>
          <a:solidFill>
            <a:srgbClr val="F4F8F8"/>
          </a:solidFill>
          <a:ln w="12700">
            <a:solidFill>
              <a:srgbClr val="E1EA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enforced (BR6–BR9)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03720" y="1828800"/>
            <a:ext cx="4480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prerequisites completed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capacity never exceeded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overlapping registration in the block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load within the student's category limit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registration for the course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1206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0B3C40"/>
          </a:solidFill>
          <a:ln w="12700">
            <a:solidFill>
              <a:srgbClr val="E1EA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5321808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violation returns a typed failure and rolls the transaction back: no registration, no seat consumed, and the student is told exactly which rule stopped them.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Architectural decision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595360" y="5303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 — Architecture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4F8F8"/>
          </a:solidFill>
          <a:ln w="12700">
            <a:solidFill>
              <a:srgbClr val="E1EA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465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 single layer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122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480560" y="18745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Volatile scheduling rules scattered through the page code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34056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4F8F8"/>
          </a:solidFill>
          <a:ln w="12700">
            <a:solidFill>
              <a:srgbClr val="E1EA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480560" y="3008376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check becomes a distributed transaction; too costly for the team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867912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E6F5F3"/>
          </a:solidFill>
          <a:ln w="12700">
            <a:solidFill>
              <a:srgbClr val="E1EA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01421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web architecture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437997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480560" y="414223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Isolates the rules, keeps registration in one local transaction, one server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by: capacity must hold under concurrent registration · 150 concurrent users at peak · rules are the volatile part · one server, one database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 architecture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595360" y="5303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 — Selected solution</a:t>
            </a:r>
            <a:endParaRPr lang="en-US" sz="1200" dirty="0"/>
          </a:p>
        </p:txBody>
      </p:sp>
      <p:pic>
        <p:nvPicPr>
          <p:cNvPr id="4" name="Image 0" descr="/Users/screwby/Projects/CS425/Lab3_Architecture/diagrams/architecture_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720840" cy="5074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80960" y="1371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680960" y="164592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MVC + Thymeleaf, security at the boundary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680960" y="2313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680960" y="258775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subsystems; acyclic dependencies; transaction boundary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80960" y="32552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model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680960" y="3529584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Framework-independent — the invariants live here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680960" y="41970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680960" y="4471416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JPA; optimistic locking on Section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680960" y="51389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680960" y="541324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IdP, SIS and SMTP behind adapters, stubbed in development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Use-case realisation — UC4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595360" y="5303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 — Sequence diagram</a:t>
            </a:r>
            <a:endParaRPr lang="en-US" sz="1200" dirty="0"/>
          </a:p>
        </p:txBody>
      </p:sp>
      <p:pic>
        <p:nvPicPr>
          <p:cNvPr id="4" name="Image 0" descr="/Users/screwby/Projects/CS425/Lab4_SequenceDiagrams/diagrams/sd_uc4_register_for_cour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43000"/>
            <a:ext cx="5532120" cy="5120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0" y="1280160"/>
            <a:ext cx="4937760" cy="2148840"/>
          </a:xfrm>
          <a:prstGeom prst="roundRect">
            <a:avLst>
              <a:gd name="adj" fmla="val 3404"/>
            </a:avLst>
          </a:prstGeom>
          <a:solidFill>
            <a:srgbClr val="F4F8F8"/>
          </a:solidFill>
          <a:ln w="12700">
            <a:solidFill>
              <a:srgbClr val="E1EA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949440" y="14447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classes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086600" y="1810512"/>
            <a:ext cx="4343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«boundary» RegistrationPage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«control» RegistrationController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«control» RegistrationValidator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«entity» Student · Section · Course · Registration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675120" y="3611880"/>
            <a:ext cx="4937760" cy="2651760"/>
          </a:xfrm>
          <a:prstGeom prst="roundRect">
            <a:avLst>
              <a:gd name="adj" fmla="val 2759"/>
            </a:avLst>
          </a:prstGeom>
          <a:solidFill>
            <a:srgbClr val="0B3C40"/>
          </a:solidFill>
          <a:ln w="12700">
            <a:solidFill>
              <a:srgbClr val="E1EA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49440" y="37947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detail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949440" y="4160520"/>
            <a:ext cx="4434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seat check and the seat decrement sit in the same transaction, with optimistic locking on Section.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who loses the race for the last seat gets "section full" — never an over-filled section.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Participating classes — VOPC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595360" y="5303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 — Collaboration &amp; VOPC</a:t>
            </a:r>
            <a:endParaRPr lang="en-US" sz="1200" dirty="0"/>
          </a:p>
        </p:txBody>
      </p:sp>
      <p:pic>
        <p:nvPicPr>
          <p:cNvPr id="4" name="Image 0" descr="/Users/screwby/Projects/CS425/Lab5_Collaboration_VOPC/diagrams/vopc_uc4_register_for_cour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3657600" cy="5120640"/>
          </a:xfrm>
          <a:prstGeom prst="rect">
            <a:avLst/>
          </a:prstGeom>
        </p:spPr>
      </p:pic>
      <p:pic>
        <p:nvPicPr>
          <p:cNvPr id="5" name="Image 1" descr="/Users/screwby/Projects/CS425/Lab5_Collaboration_VOPC/diagrams/collab_uc4_register_for_cour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463040"/>
            <a:ext cx="6903720" cy="3566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VOPC — structure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709160" y="5120640"/>
            <a:ext cx="6903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— the same interaction by object links, numbered 1 … 3.5 … 7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4709160" y="5532120"/>
            <a:ext cx="6903720" cy="914400"/>
          </a:xfrm>
          <a:prstGeom prst="roundRect">
            <a:avLst>
              <a:gd name="adj" fmla="val 8000"/>
            </a:avLst>
          </a:prstGeom>
          <a:solidFill>
            <a:srgbClr val="F4F8F8"/>
          </a:solidFill>
          <a:ln w="12700">
            <a:solidFill>
              <a:srgbClr val="E1EAE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937760" y="5669280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classes become business-layer services · entity classes become the domain model and JPA entities · boundary classes become Spring MVC controllers and templates.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Already running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595360" y="5303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7 — Implementation slice</a:t>
            </a:r>
            <a:endParaRPr lang="en-US" sz="1200" dirty="0"/>
          </a:p>
        </p:txBody>
      </p:sp>
      <p:pic>
        <p:nvPicPr>
          <p:cNvPr id="4" name="Image 0" descr="/Users/screwby/Projects/CS425/Lab7_SpringBoot/eregistrar/screenshots/home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6309360" cy="49286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78040" y="12801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2.7 · Java 11 · Thymeleaf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315200" y="1737360"/>
            <a:ext cx="4343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Published-schedule view — the read half of UC6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capacity shown; full sections marked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controller, Thymeleaf views, static assets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green on every build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DevTools + LiveReload development workflow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78040" y="39776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iteration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0" y="4389120"/>
            <a:ext cx="4343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persistence and the registration transaction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generation with conflict detection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sign-on and role-based authorization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 the registration path against 150 users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C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023360"/>
            <a:ext cx="5120640" cy="512064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914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vision to running code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1965960" cy="1965960"/>
          </a:xfrm>
          <a:prstGeom prst="roundRect">
            <a:avLst>
              <a:gd name="adj" fmla="val 4651"/>
            </a:avLst>
          </a:prstGeom>
          <a:solidFill>
            <a:srgbClr val="12494E"/>
          </a:solidFill>
          <a:ln w="12700">
            <a:solidFill>
              <a:srgbClr val="1D6B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237744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29260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32461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FE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features from the problem–need–feature table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88920" y="28803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108960" y="2148840"/>
            <a:ext cx="1965960" cy="1965960"/>
          </a:xfrm>
          <a:prstGeom prst="roundRect">
            <a:avLst>
              <a:gd name="adj" fmla="val 4651"/>
            </a:avLst>
          </a:prstGeom>
          <a:solidFill>
            <a:srgbClr val="12494E"/>
          </a:solidFill>
          <a:ln w="12700">
            <a:solidFill>
              <a:srgbClr val="1D6B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86200" y="237744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388620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46120" y="29260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46120" y="32461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FE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use cases, 2 described in full, 6 NFRs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74920" y="28803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394960" y="2148840"/>
            <a:ext cx="1965960" cy="1965960"/>
          </a:xfrm>
          <a:prstGeom prst="roundRect">
            <a:avLst>
              <a:gd name="adj" fmla="val 4651"/>
            </a:avLst>
          </a:prstGeom>
          <a:solidFill>
            <a:srgbClr val="12494E"/>
          </a:solidFill>
          <a:ln w="12700">
            <a:solidFill>
              <a:srgbClr val="1D6B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237744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32120" y="29260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532120" y="32461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FE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Layered, 5 subsystems, acyclic dependencies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360920" y="28803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680960" y="2148840"/>
            <a:ext cx="1965960" cy="1965960"/>
          </a:xfrm>
          <a:prstGeom prst="roundRect">
            <a:avLst>
              <a:gd name="adj" fmla="val 4651"/>
            </a:avLst>
          </a:prstGeom>
          <a:solidFill>
            <a:srgbClr val="12494E"/>
          </a:solidFill>
          <a:ln w="12700">
            <a:solidFill>
              <a:srgbClr val="1D6B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58200" y="237744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845820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818120" y="29260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818120" y="32461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FE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Sequence, collaboration and VOPC per use case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646920" y="28803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966960" y="2148840"/>
            <a:ext cx="1965960" cy="1965960"/>
          </a:xfrm>
          <a:prstGeom prst="roundRect">
            <a:avLst>
              <a:gd name="adj" fmla="val 4651"/>
            </a:avLst>
          </a:prstGeom>
          <a:solidFill>
            <a:srgbClr val="12494E"/>
          </a:solidFill>
          <a:ln w="12700">
            <a:solidFill>
              <a:srgbClr val="1D6B6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744200" y="237744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0" name="Text 28"/>
          <p:cNvSpPr/>
          <p:nvPr/>
        </p:nvSpPr>
        <p:spPr>
          <a:xfrm>
            <a:off x="1074420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104120" y="29260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104120" y="32461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FE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Spring Boot apps, tests green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2960" y="4663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FD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traces to a use case, every significant use case to a realisation, every analysis class to a subsystem.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Ziad El Fatih  ·  618971  ·  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eRegistrar — Requirements and Design</dc:title>
  <dc:subject>PptxGenJS Presentation</dc:subject>
  <dc:creator>Ziad El Fatih</dc:creator>
  <cp:lastModifiedBy>Ziad El Fatih</cp:lastModifiedBy>
  <cp:revision>1</cp:revision>
  <dcterms:created xsi:type="dcterms:W3CDTF">2026-08-03T17:44:48Z</dcterms:created>
  <dcterms:modified xsi:type="dcterms:W3CDTF">2026-08-03T17:44:48Z</dcterms:modified>
</cp:coreProperties>
</file>